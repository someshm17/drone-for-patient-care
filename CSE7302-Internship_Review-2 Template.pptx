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9" r:id="rId2"/>
    <p:sldId id="270" r:id="rId3"/>
    <p:sldId id="261" r:id="rId4"/>
    <p:sldId id="262" r:id="rId5"/>
    <p:sldId id="263" r:id="rId6"/>
    <p:sldId id="264" r:id="rId7"/>
    <p:sldId id="265" r:id="rId8"/>
    <p:sldId id="272" r:id="rId9"/>
    <p:sldId id="274" r:id="rId10"/>
    <p:sldId id="275" r:id="rId11"/>
    <p:sldId id="27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3" autoAdjust="0"/>
    <p:restoredTop sz="94660"/>
  </p:normalViewPr>
  <p:slideViewPr>
    <p:cSldViewPr snapToGrid="0">
      <p:cViewPr varScale="1">
        <p:scale>
          <a:sx n="98" d="100"/>
          <a:sy n="98" d="100"/>
        </p:scale>
        <p:origin x="221"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02/04/2026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66083A-C1B7-4B46-82C5-289BB6E6D5A4}" type="datetime1">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3E8F52-857A-4C89-954C-57943DB51290}" type="datetime1">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BBD7B4D-DDD6-4CA2-87A0-9BDD5E5268EC}" type="datetime1">
              <a:rPr lang="en-IN" smtClean="0"/>
              <a:t>02-04-2026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130D9E5-0635-43A8-8973-488E7408FAF7}" type="datetime1">
              <a:rPr lang="en-IN" smtClean="0"/>
              <a:t>02-04-2026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D0CEA8-D591-4CC9-939A-A3BE6FD93E89}" type="datetime1">
              <a:rPr lang="en-IN" smtClean="0"/>
              <a:t>02-04-2026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E2297-DC8B-48E6-B6D6-34773F9A5984}" type="datetime1">
              <a:rPr lang="en-IN" smtClean="0"/>
              <a:t>02-04-2026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C2A547-6E4B-4188-9BD5-035CB9C4BCC5}" type="datetime1">
              <a:rPr lang="en-IN" smtClean="0"/>
              <a:t>02-04-2026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706E29-16A1-4AAE-B55B-4E3DB7265605}" type="datetime1">
              <a:rPr lang="en-IN" smtClean="0"/>
              <a:t>02-04-2026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FC26915-BE00-456E-A9CA-DB9FE1FD674A}" type="datetime1">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A2D233-408A-4415-B919-B7ECAA5043E2}" type="datetime1">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02-04-2026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3.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US"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Ms. </a:t>
            </a:r>
            <a:r>
              <a:rPr lang="en-US" altLang="en-US"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Delsy Jyothi</a:t>
            </a:r>
            <a:endParaRPr lang="en-US" altLang="en-US"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dirty="0">
                <a:solidFill>
                  <a:schemeClr val="accent1"/>
                </a:solidFill>
                <a:latin typeface="Cambria" panose="02040503050406030204"/>
                <a:ea typeface="Cambria" panose="02040503050406030204"/>
                <a:cs typeface="Cambria" panose="02040503050406030204"/>
                <a:sym typeface="Cambria" panose="02040503050406030204"/>
              </a:rPr>
              <a:t> </a:t>
            </a:r>
            <a:r>
              <a:rPr lang="en-US" sz="2000" b="1" dirty="0">
                <a:solidFill>
                  <a:schemeClr val="dk1"/>
                </a:solidFill>
                <a:latin typeface="Cambria" panose="02040503050406030204"/>
                <a:ea typeface="Cambria" panose="02040503050406030204"/>
                <a:cs typeface="Cambria" panose="02040503050406030204"/>
                <a:sym typeface="Cambria" panose="02040503050406030204"/>
              </a:rPr>
              <a:t>Internship</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2000" b="1" dirty="0">
                <a:solidFill>
                  <a:schemeClr val="dk1"/>
                </a:solidFill>
                <a:latin typeface="Cambria" panose="02040503050406030204"/>
                <a:ea typeface="Cambria" panose="02040503050406030204"/>
                <a:cs typeface="Cambria" panose="02040503050406030204"/>
                <a:sym typeface="Cambria" panose="02040503050406030204"/>
              </a:rPr>
              <a:t>Dr. Blessed Prince</a:t>
            </a:r>
            <a:endPar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Internship </a:t>
            </a:r>
            <a:r>
              <a:rPr lang="en-US" sz="2000" b="1" i="0" u="none" strike="noStrike" cap="none" dirty="0" err="1">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Coordinator:</a:t>
            </a:r>
            <a:r>
              <a:rPr lang="en-US" sz="2000" b="1" dirty="0" err="1">
                <a:solidFill>
                  <a:schemeClr val="dk1"/>
                </a:solidFill>
                <a:latin typeface="Cambria"/>
                <a:ea typeface="Cambria"/>
                <a:cs typeface="Cambria"/>
                <a:sym typeface="Cambria"/>
              </a:rPr>
              <a:t>Ms</a:t>
            </a:r>
            <a:r>
              <a:rPr lang="en-US" sz="2000" b="1" dirty="0">
                <a:solidFill>
                  <a:schemeClr val="dk1"/>
                </a:solidFill>
                <a:latin typeface="Cambria"/>
                <a:ea typeface="Cambria"/>
                <a:cs typeface="Cambria"/>
                <a:sym typeface="Cambria"/>
              </a:rPr>
              <a:t>. Vindhya R</a:t>
            </a:r>
            <a:endParaRPr lang="en-US" sz="2000" dirty="0">
              <a:solidFill>
                <a:schemeClr val="dk1"/>
              </a:solidFill>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Internship Coordinator: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Review-2 Presentation </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r>
              <a:rPr lang="en-US" sz="2400" dirty="0">
                <a:solidFill>
                  <a:srgbClr val="0070C0"/>
                </a:solidFill>
                <a:latin typeface="Times New Roman"/>
                <a:ea typeface="Times New Roman"/>
                <a:cs typeface="Times New Roman"/>
                <a:sym typeface="Times New Roman"/>
              </a:rPr>
              <a:t>JAVA FULL STACK DEVELOPER</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391394871"/>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0000"/>
                    </a:ext>
                  </a:extLst>
                </a:gridCol>
                <a:gridCol w="3950282">
                  <a:extLst>
                    <a:ext uri="{9D8B030D-6E8A-4147-A177-3AD203B41FA5}">
                      <a16:colId xmlns:a16="http://schemas.microsoft.com/office/drawing/2014/main" val="2000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endParaRPr lang="en-US"/>
                    </a:p>
                  </a:txBody>
                  <a:tcPr/>
                </a:tc>
                <a:extLst>
                  <a:ext uri="{0D108BD9-81ED-4DB2-BD59-A6C34878D82A}">
                    <a16:rowId xmlns:a16="http://schemas.microsoft.com/office/drawing/2014/main" val="10000"/>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SOMESH MUTTINKANTIMATH</a:t>
                      </a:r>
                    </a:p>
                  </a:txBody>
                  <a:tcPr/>
                </a:tc>
                <a:extLst>
                  <a:ext uri="{0D108BD9-81ED-4DB2-BD59-A6C34878D82A}">
                    <a16:rowId xmlns:a16="http://schemas.microsoft.com/office/drawing/2014/main" val="10001"/>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20221CSE0460</a:t>
                      </a:r>
                    </a:p>
                  </a:txBody>
                  <a:tcPr/>
                </a:tc>
                <a:extLst>
                  <a:ext uri="{0D108BD9-81ED-4DB2-BD59-A6C34878D82A}">
                    <a16:rowId xmlns:a16="http://schemas.microsoft.com/office/drawing/2014/main" val="100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8CSE06</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chemeClr val="accent1"/>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normAutofit fontScale="90000" lnSpcReduction="20000"/>
          </a:bodyPr>
          <a:lstStyle/>
          <a:p>
            <a:pPr marL="228600" lvl="0" indent="0" algn="l" rtl="0">
              <a:lnSpc>
                <a:spcPct val="90000"/>
              </a:lnSpc>
              <a:spcBef>
                <a:spcPts val="1000"/>
              </a:spcBef>
              <a:spcAft>
                <a:spcPts val="0"/>
              </a:spcAft>
              <a:buNone/>
            </a:pPr>
            <a:r>
              <a:rPr lang="en-US">
                <a:latin typeface="Arial" panose="020B0604020202020204"/>
                <a:ea typeface="Arial" panose="020B0604020202020204"/>
                <a:cs typeface="Arial" panose="020B0604020202020204"/>
                <a:sym typeface="Arial" panose="020B0604020202020204"/>
              </a:rPr>
              <a:t>TAP Academy is a Bengaluru-based Ed-Tech and skill-development organization focused on training individuals in in-demand software and technology skills with the goal of making them job-ready for the IT industry. It was founded in 2021 and has since trained tens of thousands of students through both online and offline programs.</a:t>
            </a:r>
            <a:endParaRPr>
              <a:latin typeface="Arial" panose="020B0604020202020204"/>
              <a:ea typeface="Arial" panose="020B0604020202020204"/>
              <a:cs typeface="Arial" panose="020B0604020202020204"/>
              <a:sym typeface="Arial" panose="020B0604020202020204"/>
            </a:endParaRPr>
          </a:p>
          <a:p>
            <a:pPr marL="228600" lvl="0" indent="0" algn="l" rtl="0">
              <a:lnSpc>
                <a:spcPct val="90000"/>
              </a:lnSpc>
              <a:spcBef>
                <a:spcPts val="1000"/>
              </a:spcBef>
              <a:spcAft>
                <a:spcPts val="0"/>
              </a:spcAft>
              <a:buNone/>
            </a:pPr>
            <a:endParaRPr>
              <a:latin typeface="Arial" panose="020B0604020202020204"/>
              <a:ea typeface="Arial" panose="020B0604020202020204"/>
              <a:cs typeface="Arial" panose="020B0604020202020204"/>
              <a:sym typeface="Arial" panose="020B0604020202020204"/>
            </a:endParaRPr>
          </a:p>
          <a:p>
            <a:pPr marL="457200" lvl="0" indent="-349250" algn="l" rtl="0">
              <a:spcBef>
                <a:spcPts val="1000"/>
              </a:spcBef>
              <a:spcAft>
                <a:spcPts val="0"/>
              </a:spcAft>
              <a:buSzPts val="1900"/>
              <a:buFont typeface="Arial" panose="020B0604020202020204"/>
              <a:buChar char="●"/>
            </a:pPr>
            <a:r>
              <a:rPr lang="en-US">
                <a:latin typeface="Arial" panose="020B0604020202020204"/>
                <a:ea typeface="Arial" panose="020B0604020202020204"/>
                <a:cs typeface="Arial" panose="020B0604020202020204"/>
                <a:sym typeface="Arial" panose="020B0604020202020204"/>
              </a:rPr>
              <a:t>TAP Academy aims to bridge the gap between academic education and industry requirements by offering practical, project-oriented learning.</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457200" lvl="0" indent="-349250" algn="l" rtl="0">
              <a:spcBef>
                <a:spcPts val="0"/>
              </a:spcBef>
              <a:spcAft>
                <a:spcPts val="0"/>
              </a:spcAft>
              <a:buSzPts val="1900"/>
              <a:buFont typeface="Arial" panose="020B0604020202020204"/>
              <a:buChar char="●"/>
            </a:pPr>
            <a:r>
              <a:rPr lang="en-US">
                <a:latin typeface="Arial" panose="020B0604020202020204"/>
                <a:ea typeface="Arial" panose="020B0604020202020204"/>
                <a:cs typeface="Arial" panose="020B0604020202020204"/>
                <a:sym typeface="Arial" panose="020B0604020202020204"/>
              </a:rPr>
              <a:t>Their ethos is “Gamify Learning, Simplify Employment” — using modern teaching approaches like augmented reality (AR) visuals, animations, project-based training, and interactive sessions to improve comprehension.</a:t>
            </a:r>
            <a:endParaRPr>
              <a:latin typeface="Arial" panose="020B0604020202020204"/>
              <a:ea typeface="Arial" panose="020B0604020202020204"/>
              <a:cs typeface="Arial" panose="020B0604020202020204"/>
              <a:sym typeface="Arial" panose="020B0604020202020204"/>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275"/>
            <a:ext cx="4788535" cy="4058285"/>
          </a:xfrm>
        </p:spPr>
        <p:txBody>
          <a:bodyPr>
            <a:normAutofit fontScale="57500" lnSpcReduction="20000"/>
          </a:bodyPr>
          <a:lstStyle/>
          <a:p>
            <a:pPr marL="0" lvl="0" indent="0" algn="l" rtl="0">
              <a:lnSpc>
                <a:spcPct val="115000"/>
              </a:lnSpc>
              <a:spcBef>
                <a:spcPts val="1800"/>
              </a:spcBef>
              <a:spcAft>
                <a:spcPts val="0"/>
              </a:spcAft>
              <a:buNone/>
            </a:pPr>
            <a:r>
              <a:rPr lang="en-US" b="1">
                <a:solidFill>
                  <a:schemeClr val="dk1"/>
                </a:solidFill>
                <a:latin typeface="Calibri" panose="020F0502020204030204"/>
                <a:ea typeface="Calibri" panose="020F0502020204030204"/>
                <a:cs typeface="Calibri" panose="020F0502020204030204"/>
                <a:sym typeface="Arial" panose="020B0604020202020204"/>
              </a:rPr>
              <a:t>Working Domain</a:t>
            </a:r>
          </a:p>
          <a:p>
            <a:pPr marL="457200" lvl="0" indent="-330200" algn="l" rtl="0">
              <a:lnSpc>
                <a:spcPct val="100000"/>
              </a:lnSpc>
              <a:spcBef>
                <a:spcPts val="40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Full Stack Software Development</a:t>
            </a:r>
          </a:p>
          <a:p>
            <a:pPr marL="457200" lvl="0" indent="-330200" algn="l" rtl="0">
              <a:lnSpc>
                <a:spcPct val="100000"/>
              </a:lnSpc>
              <a:spcBef>
                <a:spcPts val="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Web Application Development</a:t>
            </a:r>
          </a:p>
          <a:p>
            <a:pPr marL="457200" lvl="0" indent="-330200" algn="l" rtl="0">
              <a:lnSpc>
                <a:spcPct val="100000"/>
              </a:lnSpc>
              <a:spcBef>
                <a:spcPts val="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Enterprise Application Development</a:t>
            </a:r>
            <a:br>
              <a:rPr lang="en-US" b="1">
                <a:solidFill>
                  <a:schemeClr val="dk1"/>
                </a:solidFill>
                <a:latin typeface="Calibri" panose="020F0502020204030204"/>
                <a:ea typeface="Calibri" panose="020F0502020204030204"/>
                <a:cs typeface="Calibri" panose="020F0502020204030204"/>
                <a:sym typeface="Arial" panose="020B0604020202020204"/>
              </a:rPr>
            </a:br>
            <a:r>
              <a:rPr lang="en-US" b="1">
                <a:solidFill>
                  <a:schemeClr val="dk1"/>
                </a:solidFill>
                <a:latin typeface="Calibri" panose="020F0502020204030204"/>
                <a:ea typeface="Calibri" panose="020F0502020204030204"/>
                <a:cs typeface="Calibri" panose="020F0502020204030204"/>
                <a:sym typeface="Arial" panose="020B0604020202020204"/>
              </a:rPr>
              <a:t>AI-Assisted / Agentic Software Development</a:t>
            </a:r>
          </a:p>
          <a:p>
            <a:pPr marL="457200" lvl="0" indent="-330200" algn="l" rtl="0">
              <a:lnSpc>
                <a:spcPct val="100000"/>
              </a:lnSpc>
              <a:spcBef>
                <a:spcPts val="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Backend &amp; Frontend System Integration</a:t>
            </a:r>
          </a:p>
          <a:p>
            <a:pPr marL="457200" lvl="0" indent="-330200" algn="l" rtl="0">
              <a:lnSpc>
                <a:spcPct val="100000"/>
              </a:lnSpc>
              <a:spcBef>
                <a:spcPts val="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Automation-Driven Coding Workflows</a:t>
            </a:r>
          </a:p>
          <a:p>
            <a:pPr marL="0" lvl="0" indent="0" algn="l" rtl="0">
              <a:lnSpc>
                <a:spcPct val="100000"/>
              </a:lnSpc>
              <a:spcBef>
                <a:spcPts val="0"/>
              </a:spcBef>
              <a:spcAft>
                <a:spcPts val="0"/>
              </a:spcAft>
              <a:buNone/>
            </a:pPr>
            <a:endParaRPr lang="en-US" b="1">
              <a:solidFill>
                <a:schemeClr val="dk1"/>
              </a:solidFill>
              <a:latin typeface="Calibri" panose="020F0502020204030204"/>
              <a:ea typeface="Calibri" panose="020F0502020204030204"/>
              <a:cs typeface="Calibri" panose="020F0502020204030204"/>
              <a:sym typeface="Arial" panose="020B0604020202020204"/>
            </a:endParaRPr>
          </a:p>
          <a:p>
            <a:pPr marL="0" lvl="0" indent="0" algn="l" rtl="0">
              <a:lnSpc>
                <a:spcPct val="100000"/>
              </a:lnSpc>
              <a:spcBef>
                <a:spcPts val="0"/>
              </a:spcBef>
              <a:spcAft>
                <a:spcPts val="0"/>
              </a:spcAft>
              <a:buNone/>
            </a:pPr>
            <a:r>
              <a:rPr lang="en-US" b="1">
                <a:solidFill>
                  <a:schemeClr val="dk1"/>
                </a:solidFill>
                <a:latin typeface="Calibri" panose="020F0502020204030204"/>
                <a:ea typeface="Calibri" panose="020F0502020204030204"/>
                <a:cs typeface="Calibri" panose="020F0502020204030204"/>
                <a:sym typeface="Arial" panose="020B0604020202020204"/>
              </a:rPr>
              <a:t>Technologies &amp; Tools</a:t>
            </a:r>
          </a:p>
          <a:p>
            <a:pPr marL="457200" lvl="0" indent="-317500" algn="l" rtl="0">
              <a:lnSpc>
                <a:spcPct val="100000"/>
              </a:lnSpc>
              <a:spcBef>
                <a:spcPts val="0"/>
              </a:spcBef>
              <a:spcAft>
                <a:spcPts val="0"/>
              </a:spcAft>
              <a:buSzPts val="1400"/>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Backend Technologies</a:t>
            </a:r>
          </a:p>
          <a:p>
            <a:pPr marL="457200" lvl="0" indent="-323850" algn="l" rtl="0">
              <a:lnSpc>
                <a:spcPct val="100000"/>
              </a:lnSpc>
              <a:spcBef>
                <a:spcPts val="0"/>
              </a:spcBef>
              <a:spcAft>
                <a:spcPts val="0"/>
              </a:spcAft>
              <a:buSzPts val="1500"/>
              <a:buChar char="●"/>
            </a:pPr>
            <a:r>
              <a:rPr lang="en-US" b="1">
                <a:solidFill>
                  <a:schemeClr val="dk1"/>
                </a:solidFill>
                <a:latin typeface="Calibri" panose="020F0502020204030204"/>
                <a:ea typeface="Calibri" panose="020F0502020204030204"/>
                <a:cs typeface="Calibri" panose="020F0502020204030204"/>
                <a:sym typeface="Arial" panose="020B0604020202020204"/>
              </a:rPr>
              <a:t>Java</a:t>
            </a:r>
          </a:p>
          <a:p>
            <a:pPr marL="457200" lvl="0" indent="-323850" algn="l" rtl="0">
              <a:lnSpc>
                <a:spcPct val="100000"/>
              </a:lnSpc>
              <a:spcBef>
                <a:spcPts val="0"/>
              </a:spcBef>
              <a:spcAft>
                <a:spcPts val="0"/>
              </a:spcAft>
              <a:buSzPts val="1500"/>
              <a:buChar char="●"/>
            </a:pPr>
            <a:r>
              <a:rPr lang="en-US" b="1">
                <a:solidFill>
                  <a:schemeClr val="dk1"/>
                </a:solidFill>
                <a:latin typeface="Calibri" panose="020F0502020204030204"/>
                <a:ea typeface="Calibri" panose="020F0502020204030204"/>
                <a:cs typeface="Calibri" panose="020F0502020204030204"/>
                <a:sym typeface="Arial" panose="020B0604020202020204"/>
              </a:rPr>
              <a:t>Spring Core</a:t>
            </a:r>
          </a:p>
          <a:p>
            <a:pPr marL="0" lvl="0" indent="0" algn="l" rtl="0">
              <a:lnSpc>
                <a:spcPct val="100000"/>
              </a:lnSpc>
              <a:spcBef>
                <a:spcPts val="0"/>
              </a:spcBef>
              <a:spcAft>
                <a:spcPts val="0"/>
              </a:spcAft>
              <a:buNone/>
            </a:pPr>
            <a:endParaRPr lang="en-US" b="1">
              <a:solidFill>
                <a:schemeClr val="dk1"/>
              </a:solidFill>
              <a:latin typeface="Calibri" panose="020F0502020204030204"/>
              <a:ea typeface="Calibri" panose="020F0502020204030204"/>
              <a:cs typeface="Calibri" panose="020F0502020204030204"/>
              <a:sym typeface="Arial" panose="020B0604020202020204"/>
            </a:endParaRPr>
          </a:p>
          <a:p>
            <a:pPr marL="457200" lvl="0" indent="-317500" algn="l" rtl="0">
              <a:lnSpc>
                <a:spcPct val="100000"/>
              </a:lnSpc>
              <a:spcBef>
                <a:spcPts val="0"/>
              </a:spcBef>
              <a:spcAft>
                <a:spcPts val="0"/>
              </a:spcAft>
              <a:buSzPts val="1400"/>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Frontend Technologies</a:t>
            </a:r>
          </a:p>
          <a:p>
            <a:pPr marL="457200" lvl="0" indent="-323850" algn="l" rtl="0">
              <a:lnSpc>
                <a:spcPct val="100000"/>
              </a:lnSpc>
              <a:spcBef>
                <a:spcPts val="0"/>
              </a:spcBef>
              <a:spcAft>
                <a:spcPts val="0"/>
              </a:spcAft>
              <a:buSzPts val="1499"/>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HTML5</a:t>
            </a:r>
          </a:p>
          <a:p>
            <a:pPr marL="457200" lvl="0" indent="-323850" algn="l" rtl="0">
              <a:lnSpc>
                <a:spcPct val="100000"/>
              </a:lnSpc>
              <a:spcBef>
                <a:spcPts val="0"/>
              </a:spcBef>
              <a:spcAft>
                <a:spcPts val="0"/>
              </a:spcAft>
              <a:buSzPts val="1499"/>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CSS3</a:t>
            </a:r>
          </a:p>
          <a:p>
            <a:pPr marL="457200" lvl="0" indent="-323850" algn="l" rtl="0">
              <a:lnSpc>
                <a:spcPct val="100000"/>
              </a:lnSpc>
              <a:spcBef>
                <a:spcPts val="0"/>
              </a:spcBef>
              <a:spcAft>
                <a:spcPts val="0"/>
              </a:spcAft>
              <a:buSzPts val="1499"/>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JavaScript</a:t>
            </a:r>
          </a:p>
          <a:p>
            <a:pPr marL="457200" lvl="0" indent="-323850" algn="l" rtl="0">
              <a:lnSpc>
                <a:spcPct val="100000"/>
              </a:lnSpc>
              <a:spcBef>
                <a:spcPts val="0"/>
              </a:spcBef>
              <a:spcAft>
                <a:spcPts val="0"/>
              </a:spcAft>
              <a:buSzPts val="1499"/>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React.js</a:t>
            </a:r>
          </a:p>
          <a:p>
            <a:pPr marL="0" lvl="0" indent="0" algn="l" rtl="0">
              <a:lnSpc>
                <a:spcPct val="100000"/>
              </a:lnSpc>
              <a:spcBef>
                <a:spcPts val="0"/>
              </a:spcBef>
              <a:spcAft>
                <a:spcPts val="0"/>
              </a:spcAft>
              <a:buNone/>
            </a:pPr>
            <a:endParaRPr b="1">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0"/>
              </a:spcBef>
              <a:spcAft>
                <a:spcPts val="0"/>
              </a:spcAft>
              <a:buNone/>
            </a:pPr>
            <a:endParaRPr b="1">
              <a:latin typeface="Arial" panose="020B0604020202020204"/>
              <a:ea typeface="Arial" panose="020B0604020202020204"/>
              <a:cs typeface="Arial" panose="020B0604020202020204"/>
              <a:sym typeface="Arial" panose="020B0604020202020204"/>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4</a:t>
            </a:fld>
            <a:endParaRPr lang="en-US" altLang="en-US"/>
          </a:p>
        </p:txBody>
      </p:sp>
      <p:sp>
        <p:nvSpPr>
          <p:cNvPr id="5" name="Text Box 4"/>
          <p:cNvSpPr txBox="1"/>
          <p:nvPr/>
        </p:nvSpPr>
        <p:spPr>
          <a:xfrm>
            <a:off x="6228715" y="1407160"/>
            <a:ext cx="5311140" cy="922020"/>
          </a:xfrm>
          <a:prstGeom prst="rect">
            <a:avLst/>
          </a:prstGeom>
          <a:noFill/>
        </p:spPr>
        <p:txBody>
          <a:bodyPr wrap="square" rtlCol="0">
            <a:spAutoFit/>
          </a:bodyPr>
          <a:lstStyle/>
          <a:p>
            <a:pPr marL="457200" lvl="0" indent="-330200" algn="l" rtl="0">
              <a:spcBef>
                <a:spcPts val="0"/>
              </a:spcBef>
              <a:spcAft>
                <a:spcPts val="0"/>
              </a:spcAft>
              <a:buClr>
                <a:schemeClr val="dk1"/>
              </a:buClr>
              <a:buSzPts val="1600"/>
              <a:buFont typeface="Calibri" panose="020F0502020204030204"/>
              <a:buChar char="❏"/>
            </a:pPr>
            <a:r>
              <a:rPr lang="en-US" b="1">
                <a:solidFill>
                  <a:schemeClr val="dk1"/>
                </a:solidFill>
                <a:latin typeface="Calibri" panose="020F0502020204030204"/>
                <a:ea typeface="Calibri" panose="020F0502020204030204"/>
                <a:cs typeface="Calibri" panose="020F0502020204030204"/>
                <a:sym typeface="Calibri" panose="020F0502020204030204"/>
              </a:rPr>
              <a:t>Database Technologies</a:t>
            </a:r>
            <a:endParaRPr b="1">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US">
                <a:solidFill>
                  <a:schemeClr val="dk1"/>
                </a:solidFill>
                <a:latin typeface="Calibri" panose="020F0502020204030204"/>
                <a:ea typeface="Calibri" panose="020F0502020204030204"/>
                <a:cs typeface="Calibri" panose="020F0502020204030204"/>
                <a:sym typeface="Calibri" panose="020F0502020204030204"/>
              </a:rPr>
              <a:t>MySQL</a:t>
            </a:r>
            <a:endParaRPr>
              <a:solidFill>
                <a:schemeClr val="dk1"/>
              </a:solidFill>
              <a:latin typeface="Calibri" panose="020F0502020204030204"/>
              <a:ea typeface="Calibri" panose="020F0502020204030204"/>
              <a:cs typeface="Calibri" panose="020F0502020204030204"/>
              <a:sym typeface="Calibri" panose="020F0502020204030204"/>
            </a:endParaRP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pPr marL="228600" lvl="0" indent="-323850" algn="l" rtl="0">
              <a:spcBef>
                <a:spcPts val="0"/>
              </a:spcBef>
              <a:spcAft>
                <a:spcPts val="0"/>
              </a:spcAft>
              <a:buSzPts val="3300"/>
              <a:buChar char="•"/>
            </a:pPr>
            <a:r>
              <a:rPr lang="en-US">
                <a:latin typeface="Arial" panose="020B0604020202020204"/>
                <a:ea typeface="Arial" panose="020B0604020202020204"/>
                <a:cs typeface="Arial" panose="020B0604020202020204"/>
                <a:sym typeface="Arial" panose="020B0604020202020204"/>
              </a:rPr>
              <a:t>The internship follows a classroom-based training model with around 200 students.</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23850" algn="l" rtl="0">
              <a:spcBef>
                <a:spcPts val="0"/>
              </a:spcBef>
              <a:spcAft>
                <a:spcPts val="0"/>
              </a:spcAft>
              <a:buSzPts val="3300"/>
              <a:buChar char="•"/>
            </a:pPr>
            <a:r>
              <a:rPr lang="en-US">
                <a:latin typeface="Arial" panose="020B0604020202020204"/>
                <a:ea typeface="Arial" panose="020B0604020202020204"/>
                <a:cs typeface="Arial" panose="020B0604020202020204"/>
                <a:sym typeface="Arial" panose="020B0604020202020204"/>
              </a:rPr>
              <a:t>There is no dedicated project team or project manager.</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23850" algn="l" rtl="0">
              <a:spcBef>
                <a:spcPts val="0"/>
              </a:spcBef>
              <a:spcAft>
                <a:spcPts val="0"/>
              </a:spcAft>
              <a:buSzPts val="3300"/>
              <a:buChar char="•"/>
            </a:pPr>
            <a:r>
              <a:rPr lang="en-US">
                <a:latin typeface="Arial" panose="020B0604020202020204"/>
                <a:ea typeface="Arial" panose="020B0604020202020204"/>
                <a:cs typeface="Arial" panose="020B0604020202020204"/>
                <a:sym typeface="Arial" panose="020B0604020202020204"/>
              </a:rPr>
              <a:t>Mr. Sarath, the instructor, acts as the mentor and reporting authority throughout the internship</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184367"/>
            <a:ext cx="10515600" cy="4058194"/>
          </a:xfrm>
        </p:spPr>
        <p:txBody>
          <a:bodyPr>
            <a:normAutofit fontScale="75000" lnSpcReduction="20000"/>
          </a:bodyPr>
          <a:lstStyle/>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Finding a suitable internship aligned with Java Full Stack Development and industry requirements.</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Adapting to an intensive learning schedule covering multiple technologies in a short time.</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Understanding advanced backend concepts such as Spring Boot, REST APIs, and database integration.</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Managing both frontend and backend learning simultaneously as part of full stack development.</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Grasping new concepts related to Agentic Coding and AI-assisted development.</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Keeping pace with the class due to the large batch size.</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Applying theoretical knowledge into practical coding exercises and assignments.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normAutofit fontScale="97500" lnSpcReduction="10000"/>
          </a:bodyPr>
          <a:lstStyle/>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gain knowledge on DSA and Database Management Systems.</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understand SQL and understanding Database.</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build responsive and interactive frontend interfaces using modern web technologies.</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apply SQL and manage large amounts of Real-Time data.</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different ways of solving a particular coding scenario question.</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enhance industry readiness through real-time projects and development workflows.</a:t>
            </a:r>
            <a:endParaRPr dirty="0">
              <a:latin typeface="Times New Roman" panose="02020603050405020304"/>
              <a:ea typeface="Times New Roman" panose="02020603050405020304"/>
              <a:cs typeface="Times New Roman" panose="02020603050405020304"/>
              <a:sym typeface="Times New Roman" panose="02020603050405020304"/>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58194"/>
          </a:xfrm>
        </p:spPr>
        <p:txBody>
          <a:bodyPr/>
          <a:lstStyle/>
          <a:p>
            <a:r>
              <a:rPr lang="en-US" altLang="en-US" dirty="0">
                <a:latin typeface="Times New Roman" panose="02020603050405020304" pitchFamily="18" charset="0"/>
                <a:cs typeface="Times New Roman" panose="02020603050405020304" pitchFamily="18" charset="0"/>
              </a:rPr>
              <a:t>The proposed system is a web-based application developed using Java Full Stack technologies to provide an efficient, secure, and user-friendly solution. The system uses HTML, CSS, and JavaScript for the front end to ensure a responsive interface. The back end is implemented using Java, Servlets, JSP, and Spring Boot to handle business logic and user requests. MySQL is used for data storage, with Hibernate for seamless database interaction. Maven is used for build and dependency management, and Git for version control. The system follows MVC architecture to improve scalability, maintainability, and performance.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184367"/>
            <a:ext cx="10515600" cy="4058194"/>
          </a:xfrm>
        </p:spPr>
        <p:txBody>
          <a:bodyPr>
            <a:noAutofit/>
          </a:bodyPr>
          <a:lstStyle/>
          <a:p>
            <a:pPr marL="0" indent="0">
              <a:buNone/>
            </a:pPr>
            <a:r>
              <a:rPr lang="en-US" altLang="en-US" sz="2300" b="1" dirty="0">
                <a:latin typeface="Times New Roman" panose="02020603050405020304" pitchFamily="18" charset="0"/>
                <a:cs typeface="Times New Roman" panose="02020603050405020304" pitchFamily="18" charset="0"/>
              </a:rPr>
              <a:t>     </a:t>
            </a:r>
            <a:r>
              <a:rPr lang="en-US" altLang="en-US" sz="2300" b="1" u="sng" dirty="0">
                <a:latin typeface="Times New Roman" panose="02020603050405020304" pitchFamily="18" charset="0"/>
                <a:cs typeface="Times New Roman" panose="02020603050405020304" pitchFamily="18" charset="0"/>
              </a:rPr>
              <a:t>Hardware Requirements:</a:t>
            </a:r>
          </a:p>
          <a:p>
            <a:r>
              <a:rPr lang="en-US" altLang="en-US" sz="2300" b="1" dirty="0">
                <a:latin typeface="Times New Roman" panose="02020603050405020304" pitchFamily="18" charset="0"/>
                <a:cs typeface="Times New Roman" panose="02020603050405020304" pitchFamily="18" charset="0"/>
              </a:rPr>
              <a:t>• Processor: Intel i3 or higher</a:t>
            </a:r>
          </a:p>
          <a:p>
            <a:r>
              <a:rPr lang="en-US" altLang="en-US" sz="2300" b="1" dirty="0">
                <a:latin typeface="Times New Roman" panose="02020603050405020304" pitchFamily="18" charset="0"/>
                <a:cs typeface="Times New Roman" panose="02020603050405020304" pitchFamily="18" charset="0"/>
              </a:rPr>
              <a:t>• RAM: Minimum 4 GB</a:t>
            </a:r>
          </a:p>
          <a:p>
            <a:r>
              <a:rPr lang="en-US" altLang="en-US" sz="2300" b="1" dirty="0">
                <a:latin typeface="Times New Roman" panose="02020603050405020304" pitchFamily="18" charset="0"/>
                <a:cs typeface="Times New Roman" panose="02020603050405020304" pitchFamily="18" charset="0"/>
              </a:rPr>
              <a:t>• Hard Disk: 100 GB or more</a:t>
            </a:r>
          </a:p>
          <a:p>
            <a:pPr marL="0" indent="0">
              <a:buNone/>
            </a:pPr>
            <a:r>
              <a:rPr lang="en-US" altLang="en-US" sz="2300" b="1" dirty="0">
                <a:latin typeface="Times New Roman" panose="02020603050405020304" pitchFamily="18" charset="0"/>
                <a:cs typeface="Times New Roman" panose="02020603050405020304" pitchFamily="18" charset="0"/>
              </a:rPr>
              <a:t>     </a:t>
            </a:r>
            <a:r>
              <a:rPr lang="en-US" altLang="en-US" sz="2300" b="1" u="sng" dirty="0">
                <a:latin typeface="Times New Roman" panose="02020603050405020304" pitchFamily="18" charset="0"/>
                <a:cs typeface="Times New Roman" panose="02020603050405020304" pitchFamily="18" charset="0"/>
              </a:rPr>
              <a:t>Software Requirements:</a:t>
            </a:r>
          </a:p>
          <a:p>
            <a:r>
              <a:rPr lang="en-US" altLang="en-US" sz="2300" b="1" dirty="0">
                <a:latin typeface="Times New Roman" panose="02020603050405020304" pitchFamily="18" charset="0"/>
                <a:cs typeface="Times New Roman" panose="02020603050405020304" pitchFamily="18" charset="0"/>
              </a:rPr>
              <a:t>• Operating System: Windows / Linux</a:t>
            </a:r>
          </a:p>
          <a:p>
            <a:r>
              <a:rPr lang="en-US" altLang="en-US" sz="2300" b="1" dirty="0">
                <a:latin typeface="Times New Roman" panose="02020603050405020304" pitchFamily="18" charset="0"/>
                <a:cs typeface="Times New Roman" panose="02020603050405020304" pitchFamily="18" charset="0"/>
              </a:rPr>
              <a:t>• Front End: HTML, CSS, JavaScript</a:t>
            </a:r>
          </a:p>
          <a:p>
            <a:r>
              <a:rPr lang="en-US" altLang="en-US" sz="2300" b="1" dirty="0">
                <a:latin typeface="Times New Roman" panose="02020603050405020304" pitchFamily="18" charset="0"/>
                <a:cs typeface="Times New Roman" panose="02020603050405020304" pitchFamily="18" charset="0"/>
              </a:rPr>
              <a:t>• Back End: Java, Servlets, JSP, Spring Boot</a:t>
            </a:r>
          </a:p>
          <a:p>
            <a:r>
              <a:rPr lang="en-US" altLang="en-US" sz="2300" b="1" dirty="0">
                <a:latin typeface="Times New Roman" panose="02020603050405020304" pitchFamily="18" charset="0"/>
                <a:cs typeface="Times New Roman" panose="02020603050405020304" pitchFamily="18" charset="0"/>
              </a:rPr>
              <a:t>• Database: MySQL</a:t>
            </a:r>
          </a:p>
          <a:p>
            <a:r>
              <a:rPr lang="en-US" altLang="en-US" sz="2300" b="1" dirty="0">
                <a:latin typeface="Times New Roman" panose="02020603050405020304" pitchFamily="18" charset="0"/>
                <a:cs typeface="Times New Roman" panose="02020603050405020304" pitchFamily="18" charset="0"/>
              </a:rPr>
              <a:t>• Tools: Eclipse/IntelliJ, Maven, Gi</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3" name="Content Placeholder 2"/>
          <p:cNvSpPr>
            <a:spLocks noGrp="1"/>
          </p:cNvSpPr>
          <p:nvPr>
            <p:ph idx="1"/>
          </p:nvPr>
        </p:nvSpPr>
        <p:spPr>
          <a:xfrm>
            <a:off x="838200" y="1184367"/>
            <a:ext cx="10515600" cy="4058194"/>
          </a:xfrm>
        </p:spPr>
        <p:txBody>
          <a:bodyPr/>
          <a:lstStyle/>
          <a:p>
            <a:r>
              <a:rPr lang="en-US" altLang="en-US" dirty="0">
                <a:latin typeface="Times New Roman" panose="02020603050405020304" pitchFamily="18" charset="0"/>
                <a:cs typeface="Times New Roman" panose="02020603050405020304" pitchFamily="18" charset="0"/>
              </a:rPr>
              <a:t> Provides a user-friendly and responsive web interface</a:t>
            </a:r>
          </a:p>
          <a:p>
            <a:r>
              <a:rPr lang="en-US" altLang="en-US" dirty="0">
                <a:latin typeface="Times New Roman" panose="02020603050405020304" pitchFamily="18" charset="0"/>
                <a:cs typeface="Times New Roman" panose="02020603050405020304" pitchFamily="18" charset="0"/>
              </a:rPr>
              <a:t> Ensures better data management and reduced redundancy</a:t>
            </a:r>
          </a:p>
          <a:p>
            <a:r>
              <a:rPr lang="en-US" altLang="en-US" dirty="0">
                <a:latin typeface="Times New Roman" panose="02020603050405020304" pitchFamily="18" charset="0"/>
                <a:cs typeface="Times New Roman" panose="02020603050405020304" pitchFamily="18" charset="0"/>
              </a:rPr>
              <a:t> Improves system performance and scalability</a:t>
            </a:r>
          </a:p>
          <a:p>
            <a:r>
              <a:rPr lang="en-US" altLang="en-US" dirty="0">
                <a:latin typeface="Times New Roman" panose="02020603050405020304" pitchFamily="18" charset="0"/>
                <a:cs typeface="Times New Roman" panose="02020603050405020304" pitchFamily="18" charset="0"/>
              </a:rPr>
              <a:t> Enhances security through authentication and validation</a:t>
            </a:r>
          </a:p>
          <a:p>
            <a:r>
              <a:rPr lang="en-US" altLang="en-US" dirty="0">
                <a:latin typeface="Times New Roman" panose="02020603050405020304" pitchFamily="18" charset="0"/>
                <a:cs typeface="Times New Roman" panose="02020603050405020304" pitchFamily="18" charset="0"/>
              </a:rPr>
              <a:t> Reduces manual effort and processing time</a:t>
            </a:r>
          </a:p>
          <a:p>
            <a:r>
              <a:rPr lang="en-US" altLang="en-US" dirty="0">
                <a:latin typeface="Times New Roman" panose="02020603050405020304" pitchFamily="18" charset="0"/>
                <a:cs typeface="Times New Roman" panose="02020603050405020304" pitchFamily="18" charset="0"/>
              </a:rPr>
              <a:t> Easy maintenance using modular and MVC architecture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838200" y="365125"/>
            <a:ext cx="10515600" cy="5963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200"/>
              <a:buFont typeface="Times New Roman" panose="02020603050405020304"/>
              <a:buNone/>
            </a:pP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Internship Road Map</a:t>
            </a:r>
            <a:endParaRPr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lang="en-US"/>
          </a:p>
        </p:txBody>
      </p:sp>
      <p:grpSp>
        <p:nvGrpSpPr>
          <p:cNvPr id="140" name="Google Shape;140;p8"/>
          <p:cNvGrpSpPr/>
          <p:nvPr>
            <p:custDataLst>
              <p:tags r:id="rId1"/>
            </p:custDataLst>
          </p:nvPr>
        </p:nvGrpSpPr>
        <p:grpSpPr>
          <a:xfrm>
            <a:off x="769549" y="1009950"/>
            <a:ext cx="10628398" cy="4780554"/>
            <a:chOff x="2063594" y="0"/>
            <a:chExt cx="6388410" cy="4058195"/>
          </a:xfrm>
        </p:grpSpPr>
        <p:sp>
          <p:nvSpPr>
            <p:cNvPr id="141" name="Google Shape;141;p8"/>
            <p:cNvSpPr/>
            <p:nvPr>
              <p:custDataLst>
                <p:tags r:id="rId4"/>
              </p:custDataLst>
            </p:nvPr>
          </p:nvSpPr>
          <p:spPr>
            <a:xfrm>
              <a:off x="7173684" y="811639"/>
              <a:ext cx="1278320" cy="3246556"/>
            </a:xfrm>
            <a:prstGeom prst="wedgeRectCallout">
              <a:avLst>
                <a:gd name="adj1" fmla="val 0"/>
                <a:gd name="adj2" fmla="val 0"/>
              </a:avLst>
            </a:prstGeom>
            <a:solidFill>
              <a:srgbClr val="BFC8E3"/>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42" name="Google Shape;142;p8"/>
            <p:cNvSpPr/>
            <p:nvPr>
              <p:custDataLst>
                <p:tags r:id="rId5"/>
              </p:custDataLst>
            </p:nvPr>
          </p:nvSpPr>
          <p:spPr>
            <a:xfrm>
              <a:off x="7173684" y="0"/>
              <a:ext cx="1278320" cy="811639"/>
            </a:xfrm>
            <a:prstGeom prst="rect">
              <a:avLst/>
            </a:prstGeom>
            <a:solidFill>
              <a:schemeClr val="accent2"/>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43" name="Google Shape;143;p8"/>
            <p:cNvSpPr txBox="1"/>
            <p:nvPr>
              <p:custDataLst>
                <p:tags r:id="rId6"/>
              </p:custDataLst>
            </p:nvPr>
          </p:nvSpPr>
          <p:spPr>
            <a:xfrm>
              <a:off x="7173684" y="0"/>
              <a:ext cx="1278320" cy="811639"/>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Final Review</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4" name="Google Shape;144;p8"/>
            <p:cNvSpPr/>
            <p:nvPr>
              <p:custDataLst>
                <p:tags r:id="rId7"/>
              </p:custDataLst>
            </p:nvPr>
          </p:nvSpPr>
          <p:spPr>
            <a:xfrm>
              <a:off x="5898571" y="811625"/>
              <a:ext cx="1278300" cy="3000900"/>
            </a:xfrm>
            <a:prstGeom prst="wedgeRectCallout">
              <a:avLst>
                <a:gd name="adj1" fmla="val 62500"/>
                <a:gd name="adj2" fmla="val 20830"/>
              </a:avLst>
            </a:prstGeom>
            <a:solidFill>
              <a:srgbClr val="C6EAE6"/>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Clr>
                  <a:schemeClr val="dk1"/>
                </a:buClr>
                <a:buSzPts val="1100"/>
                <a:buFont typeface="Arial" panose="020B0604020202020204"/>
                <a:buNone/>
              </a:pPr>
              <a:endParaRPr sz="1050"/>
            </a:p>
          </p:txBody>
        </p:sp>
        <p:sp>
          <p:nvSpPr>
            <p:cNvPr id="145" name="Google Shape;145;p8"/>
            <p:cNvSpPr/>
            <p:nvPr>
              <p:custDataLst>
                <p:tags r:id="rId8"/>
              </p:custDataLst>
            </p:nvPr>
          </p:nvSpPr>
          <p:spPr>
            <a:xfrm>
              <a:off x="5898557" y="101454"/>
              <a:ext cx="1278320" cy="710184"/>
            </a:xfrm>
            <a:prstGeom prst="rect">
              <a:avLst/>
            </a:prstGeom>
            <a:solidFill>
              <a:schemeClr val="accent3"/>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46" name="Google Shape;146;p8"/>
            <p:cNvSpPr txBox="1"/>
            <p:nvPr>
              <p:custDataLst>
                <p:tags r:id="rId9"/>
              </p:custDataLst>
            </p:nvPr>
          </p:nvSpPr>
          <p:spPr>
            <a:xfrm>
              <a:off x="5959656" y="101454"/>
              <a:ext cx="1278300" cy="710100"/>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Review 4</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 name="Google Shape;147;p8"/>
            <p:cNvSpPr/>
            <p:nvPr>
              <p:custDataLst>
                <p:tags r:id="rId10"/>
              </p:custDataLst>
            </p:nvPr>
          </p:nvSpPr>
          <p:spPr>
            <a:xfrm>
              <a:off x="4620236" y="811639"/>
              <a:ext cx="1278320" cy="2840736"/>
            </a:xfrm>
            <a:prstGeom prst="wedgeRectCallout">
              <a:avLst>
                <a:gd name="adj1" fmla="val 62500"/>
                <a:gd name="adj2" fmla="val 20830"/>
              </a:avLst>
            </a:prstGeom>
            <a:solidFill>
              <a:srgbClr val="CFF1CF"/>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48" name="Google Shape;148;p8"/>
            <p:cNvSpPr txBox="1"/>
            <p:nvPr>
              <p:custDataLst>
                <p:tags r:id="rId11"/>
              </p:custDataLst>
            </p:nvPr>
          </p:nvSpPr>
          <p:spPr>
            <a:xfrm>
              <a:off x="4643957" y="811630"/>
              <a:ext cx="1254600" cy="2840700"/>
            </a:xfrm>
            <a:prstGeom prst="rect">
              <a:avLst/>
            </a:prstGeom>
            <a:noFill/>
            <a:ln>
              <a:noFill/>
            </a:ln>
          </p:spPr>
          <p:txBody>
            <a:bodyPr spcFirstLastPara="1" wrap="square" lIns="77000" tIns="77000" rIns="77000" bIns="77000" anchor="t" anchorCtr="0">
              <a:noAutofit/>
            </a:bodyPr>
            <a:lstStyle/>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Full Stack application development</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Frontend–backend integration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CRUD operations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Authentication and authorization basics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Agentic Coding for debugging and code optimization</a:t>
              </a: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8"/>
            <p:cNvSpPr/>
            <p:nvPr>
              <p:custDataLst>
                <p:tags r:id="rId12"/>
              </p:custDataLst>
            </p:nvPr>
          </p:nvSpPr>
          <p:spPr>
            <a:xfrm>
              <a:off x="4620236" y="206156"/>
              <a:ext cx="1278320" cy="608729"/>
            </a:xfrm>
            <a:prstGeom prst="rect">
              <a:avLst/>
            </a:prstGeom>
            <a:solidFill>
              <a:schemeClr val="accent4"/>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0" name="Google Shape;150;p8"/>
            <p:cNvSpPr txBox="1"/>
            <p:nvPr>
              <p:custDataLst>
                <p:tags r:id="rId13"/>
              </p:custDataLst>
            </p:nvPr>
          </p:nvSpPr>
          <p:spPr>
            <a:xfrm>
              <a:off x="4620236" y="206156"/>
              <a:ext cx="1278320" cy="608729"/>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Review 3</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8"/>
            <p:cNvSpPr/>
            <p:nvPr>
              <p:custDataLst>
                <p:tags r:id="rId14"/>
              </p:custDataLst>
            </p:nvPr>
          </p:nvSpPr>
          <p:spPr>
            <a:xfrm>
              <a:off x="3341915" y="811639"/>
              <a:ext cx="1278320" cy="2637826"/>
            </a:xfrm>
            <a:prstGeom prst="wedgeRectCallout">
              <a:avLst>
                <a:gd name="adj1" fmla="val 62500"/>
                <a:gd name="adj2" fmla="val 20830"/>
              </a:avLst>
            </a:prstGeom>
            <a:solidFill>
              <a:srgbClr val="F4F6D9"/>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2" name="Google Shape;152;p8"/>
            <p:cNvSpPr txBox="1"/>
            <p:nvPr>
              <p:custDataLst>
                <p:tags r:id="rId15"/>
              </p:custDataLst>
            </p:nvPr>
          </p:nvSpPr>
          <p:spPr>
            <a:xfrm>
              <a:off x="3365676" y="811630"/>
              <a:ext cx="1254600" cy="2637900"/>
            </a:xfrm>
            <a:prstGeom prst="rect">
              <a:avLst/>
            </a:prstGeom>
            <a:noFill/>
            <a:ln>
              <a:noFill/>
            </a:ln>
          </p:spPr>
          <p:txBody>
            <a:bodyPr spcFirstLastPara="1" wrap="square" lIns="77000" tIns="77000" rIns="77000" bIns="77000" anchor="t" anchorCtr="0">
              <a:noAutofit/>
            </a:bodyPr>
            <a:lstStyle/>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Advanced Java concepts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Spring Core and Spring Boot fundamentals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REST API development</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Database concepts and MySQL integration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Basic AI-assisted coding practices</a:t>
              </a: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8"/>
            <p:cNvSpPr/>
            <p:nvPr>
              <p:custDataLst>
                <p:tags r:id="rId16"/>
              </p:custDataLst>
            </p:nvPr>
          </p:nvSpPr>
          <p:spPr>
            <a:xfrm>
              <a:off x="3341915" y="304364"/>
              <a:ext cx="1278320" cy="507274"/>
            </a:xfrm>
            <a:prstGeom prst="rect">
              <a:avLst/>
            </a:prstGeom>
            <a:solidFill>
              <a:srgbClr val="599BD5"/>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4" name="Google Shape;154;p8"/>
            <p:cNvSpPr txBox="1"/>
            <p:nvPr>
              <p:custDataLst>
                <p:tags r:id="rId17"/>
              </p:custDataLst>
            </p:nvPr>
          </p:nvSpPr>
          <p:spPr>
            <a:xfrm>
              <a:off x="3341915" y="304364"/>
              <a:ext cx="1278320" cy="507274"/>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Review 2</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5" name="Google Shape;155;p8"/>
            <p:cNvSpPr/>
            <p:nvPr/>
          </p:nvSpPr>
          <p:spPr>
            <a:xfrm>
              <a:off x="2063594" y="811639"/>
              <a:ext cx="1278320" cy="2434917"/>
            </a:xfrm>
            <a:prstGeom prst="wedgeRectCallout">
              <a:avLst>
                <a:gd name="adj1" fmla="val 62500"/>
                <a:gd name="adj2" fmla="val 20830"/>
              </a:avLst>
            </a:prstGeom>
            <a:solidFill>
              <a:srgbClr val="FAEAE5"/>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6" name="Google Shape;156;p8"/>
            <p:cNvSpPr txBox="1"/>
            <p:nvPr/>
          </p:nvSpPr>
          <p:spPr>
            <a:xfrm>
              <a:off x="2104858" y="811630"/>
              <a:ext cx="1213200" cy="2434800"/>
            </a:xfrm>
            <a:prstGeom prst="rect">
              <a:avLst/>
            </a:prstGeom>
            <a:noFill/>
            <a:ln>
              <a:noFill/>
            </a:ln>
          </p:spPr>
          <p:txBody>
            <a:bodyPr spcFirstLastPara="1" wrap="square" lIns="77000" tIns="77000" rIns="77000" bIns="77000" anchor="t" anchorCtr="0">
              <a:noAutofit/>
            </a:bodyPr>
            <a:lstStyle/>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 to Java and Full Stack concepts</a:t>
              </a:r>
              <a:b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Core Java fundamentals (OOPs, Collections, Exception Handling)</a:t>
              </a:r>
              <a:b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Basics of HTML, CSS, and JavaScript</a:t>
              </a:r>
              <a:b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Development environment setup</a:t>
              </a:r>
              <a:b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 to Agentic Coding concepts</a:t>
              </a: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p8"/>
            <p:cNvSpPr/>
            <p:nvPr/>
          </p:nvSpPr>
          <p:spPr>
            <a:xfrm>
              <a:off x="2063594" y="405819"/>
              <a:ext cx="1278320" cy="405819"/>
            </a:xfrm>
            <a:prstGeom prst="rect">
              <a:avLst/>
            </a:prstGeom>
            <a:solidFill>
              <a:schemeClr val="accent6"/>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8" name="Google Shape;158;p8"/>
            <p:cNvSpPr txBox="1"/>
            <p:nvPr/>
          </p:nvSpPr>
          <p:spPr>
            <a:xfrm>
              <a:off x="2063594" y="405819"/>
              <a:ext cx="1278320" cy="405819"/>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Review 1</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59" name="Google Shape;159;p8"/>
          <p:cNvSpPr txBox="1"/>
          <p:nvPr>
            <p:custDataLst>
              <p:tags r:id="rId2"/>
            </p:custDataLst>
          </p:nvPr>
        </p:nvSpPr>
        <p:spPr>
          <a:xfrm>
            <a:off x="7185125" y="1985774"/>
            <a:ext cx="2087400" cy="3495900"/>
          </a:xfrm>
          <a:prstGeom prst="rect">
            <a:avLst/>
          </a:prstGeom>
          <a:noFill/>
          <a:ln>
            <a:noFill/>
          </a:ln>
        </p:spPr>
        <p:txBody>
          <a:bodyPr spcFirstLastPara="1" wrap="square" lIns="77000" tIns="77000" rIns="77000" bIns="77000" anchor="t" anchorCtr="0">
            <a:noAutofit/>
          </a:bodyPr>
          <a:lstStyle/>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Advanced Spring Boot features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Mini full stack application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API testing and validation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Code refactoring using AI agents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Deployment basics</a:t>
            </a: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0" name="Google Shape;160;p8"/>
          <p:cNvSpPr txBox="1"/>
          <p:nvPr>
            <p:custDataLst>
              <p:tags r:id="rId3"/>
            </p:custDataLst>
          </p:nvPr>
        </p:nvSpPr>
        <p:spPr>
          <a:xfrm>
            <a:off x="9272525" y="1985775"/>
            <a:ext cx="2087400" cy="3804600"/>
          </a:xfrm>
          <a:prstGeom prst="rect">
            <a:avLst/>
          </a:prstGeom>
          <a:noFill/>
          <a:ln>
            <a:noFill/>
          </a:ln>
        </p:spPr>
        <p:txBody>
          <a:bodyPr spcFirstLastPara="1" wrap="square" lIns="77000" tIns="77000" rIns="77000" bIns="77000" anchor="t" anchorCtr="0">
            <a:noAutofit/>
          </a:bodyPr>
          <a:lstStyle/>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Completion of internship curriculum</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Final assessment and evaluation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Practical understanding of Java Full Stack Development</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Effective use of Agentic Coding techniques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Overall performance review and certification</a:t>
            </a: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12</a:t>
            </a:fld>
            <a:endParaRPr lang="en-US" altLang="en-US"/>
          </a:p>
        </p:txBody>
      </p:sp>
      <p:sp>
        <p:nvSpPr>
          <p:cNvPr id="3" name="Content Placeholder 2"/>
          <p:cNvSpPr>
            <a:spLocks noGrp="1"/>
          </p:cNvSpPr>
          <p:nvPr>
            <p:ph idx="1"/>
          </p:nvPr>
        </p:nvSpPr>
        <p:spPr>
          <a:xfrm>
            <a:off x="446308" y="1061297"/>
            <a:ext cx="10515600" cy="4351338"/>
          </a:xfrm>
        </p:spPr>
        <p:txBody>
          <a:bodyPr/>
          <a:lstStyle/>
          <a:p>
            <a:pPr lvl="0" indent="-50800">
              <a:spcBef>
                <a:spcPts val="0"/>
              </a:spcBef>
              <a:buSzPts val="2800"/>
              <a:buNone/>
            </a:pPr>
            <a:r>
              <a:rPr lang="en-US" sz="4800" dirty="0"/>
              <a:t>https://github.com/someshm17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t>13</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chemeClr val="accent1"/>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14</a:t>
            </a:fld>
            <a:endParaRPr lang="en-US"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936</Words>
  <Application>Microsoft Office PowerPoint</Application>
  <PresentationFormat>Widescreen</PresentationFormat>
  <Paragraphs>145</Paragraphs>
  <Slides>14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Working domain or the technology</vt:lpstr>
      <vt:lpstr>About your team and reporting Manager</vt:lpstr>
      <vt:lpstr>Challenges Faced in Internship</vt:lpstr>
      <vt:lpstr>Objectives of the work</vt:lpstr>
      <vt:lpstr>Proposed System / Work</vt:lpstr>
      <vt:lpstr>System Requirements</vt:lpstr>
      <vt:lpstr>Advantages of Proposed System/Work</vt:lpstr>
      <vt:lpstr>Internship Road Map</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Somesh M_</cp:lastModifiedBy>
  <cp:revision>727</cp:revision>
  <dcterms:created xsi:type="dcterms:W3CDTF">2022-10-14T07:18:00Z</dcterms:created>
  <dcterms:modified xsi:type="dcterms:W3CDTF">2026-04-02T06:43:27Z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3BEDF95E4927486AB13DBCC84814E4C1_13</vt:lpwstr>
  </property>
  <property fmtid="{D5CDD505-2E9C-101B-9397-08002B2CF9AE}" pid="3" name="KSOProductBuildVer">
    <vt:lpwstr>1033-12.2.0.23196</vt:lpwstr>
  </property>
</Properties>
</file>