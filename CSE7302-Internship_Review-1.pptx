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gAZuEX9+rRa3HddU7WCD8KHPU8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C1E87C0-A513-4C66-84A0-FE165B9E16B7}">
  <a:tblStyle styleId="{AC1E87C0-A513-4C66-84A0-FE165B9E16B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2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7" name="Google Shape;10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0096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Under the Supervision of,</a:t>
            </a:r>
            <a:endParaRPr sz="1800" b="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IN" sz="1600" b="1" dirty="0" err="1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Ms.Delsy</a:t>
            </a:r>
            <a:r>
              <a:rPr lang="en-IN" sz="1600" b="1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Jyothi  </a:t>
            </a:r>
            <a:endParaRPr sz="1600" b="1" i="0" u="none" strike="noStrike" cap="none" dirty="0">
              <a:solidFill>
                <a:schemeClr val="accent1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US" sz="1700" b="1" i="0" u="none" strike="noStrike" cap="none" dirty="0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Assistant Professor</a:t>
            </a:r>
            <a:endParaRPr sz="1800" b="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US" sz="1700" b="1" dirty="0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School of Computer Science and Engineering</a:t>
            </a:r>
            <a:endParaRPr sz="1800" b="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US" sz="1700" b="1" i="0" u="none" strike="noStrike" cap="none" dirty="0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Presidency University</a:t>
            </a:r>
            <a:endParaRPr sz="1800" b="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Name of the Program: 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</a:t>
            </a:r>
            <a:r>
              <a:rPr lang="en-US" sz="2000" b="1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nternship</a:t>
            </a:r>
            <a:endParaRPr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Name of the </a:t>
            </a:r>
            <a:r>
              <a:rPr lang="en-US" sz="2000" b="1" i="0" u="none" strike="noStrike" cap="none" dirty="0" err="1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HoD</a:t>
            </a:r>
            <a:r>
              <a:rPr lang="en-US" sz="2000" b="1" i="0" u="none" strike="noStrike" cap="none" dirty="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: 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Dr</a:t>
            </a:r>
            <a:r>
              <a:rPr lang="en-US" sz="2000" b="1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. Blessed Prince</a:t>
            </a:r>
            <a:endParaRPr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Name of the Program Internship Coordinator: </a:t>
            </a:r>
            <a:r>
              <a:rPr lang="en-US" sz="2000" b="1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Ms. Vindhya R</a:t>
            </a:r>
            <a:endParaRPr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Name of the School Internship Coordinator: </a:t>
            </a:r>
            <a:r>
              <a:rPr lang="en-US" sz="2000" b="1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Mr. Sampath AK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													</a:t>
            </a:r>
            <a:endParaRPr sz="2000" b="1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US" sz="2800" b="1" i="0" u="none" strike="noStrike" cap="none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CSE7302 - INTERNSHIP</a:t>
            </a:r>
            <a:br>
              <a:rPr lang="en-US" sz="28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1" i="0" u="none" strike="noStrike" cap="none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Review-1 Presentation </a:t>
            </a:r>
            <a:br>
              <a:rPr lang="en-US" sz="2400" b="1" i="0" u="none" strike="noStrike" cap="none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1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FULL STACK DEVELOPER</a:t>
            </a:r>
            <a:endParaRPr sz="2400" b="1" i="0" u="none" strike="noStrike" cap="none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1" name="Google Shape;91;p1"/>
          <p:cNvGraphicFramePr/>
          <p:nvPr>
            <p:extLst>
              <p:ext uri="{D42A27DB-BD31-4B8C-83A1-F6EECF244321}">
                <p14:modId xmlns:p14="http://schemas.microsoft.com/office/powerpoint/2010/main" val="2821782417"/>
              </p:ext>
            </p:extLst>
          </p:nvPr>
        </p:nvGraphicFramePr>
        <p:xfrm>
          <a:off x="601909" y="1911875"/>
          <a:ext cx="5321550" cy="1463080"/>
        </p:xfrm>
        <a:graphic>
          <a:graphicData uri="http://schemas.openxmlformats.org/drawingml/2006/table">
            <a:tbl>
              <a:tblPr firstRow="1" bandRow="1">
                <a:noFill/>
                <a:tableStyleId>{AC1E87C0-A513-4C66-84A0-FE165B9E16B7}</a:tableStyleId>
              </a:tblPr>
              <a:tblGrid>
                <a:gridCol w="1371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0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2275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Student Details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Name</a:t>
                      </a:r>
                      <a:endParaRPr sz="1800" b="1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SOMESH MUTTINKANTIMATH</a:t>
                      </a:r>
                      <a:endParaRPr sz="1800" u="none" strike="noStrike" cap="none" dirty="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Roll No</a:t>
                      </a:r>
                      <a:endParaRPr sz="1800" b="1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20221CSE0460</a:t>
                      </a:r>
                      <a:endParaRPr sz="1800" u="none" strike="noStrike" cap="none" dirty="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Section</a:t>
                      </a:r>
                      <a:endParaRPr sz="1800" b="1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8CSE06</a:t>
                      </a:r>
                      <a:endParaRPr sz="1800" u="none" strike="noStrike" cap="none" dirty="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Content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Noto Sans Symbols"/>
              <a:buChar char="⮚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About Company or Organization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Noto Sans Symbols"/>
              <a:buChar char="⮚"/>
            </a:pPr>
            <a:r>
              <a:rPr lang="en-US" sz="2000" b="1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 domain or the technology</a:t>
            </a:r>
            <a:endParaRPr sz="2000" dirty="0">
              <a:latin typeface="Cambria"/>
              <a:ea typeface="Cambria"/>
              <a:cs typeface="Cambria"/>
              <a:sym typeface="Cambria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Noto Sans Symbols"/>
              <a:buChar char="⮚"/>
            </a:pPr>
            <a:r>
              <a:rPr lang="en-US" sz="2000" b="1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About your team and reporting Manager</a:t>
            </a:r>
            <a:endParaRPr sz="2000" dirty="0">
              <a:latin typeface="Cambria"/>
              <a:ea typeface="Cambria"/>
              <a:cs typeface="Cambria"/>
              <a:sym typeface="Cambria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Noto Sans Symbols"/>
              <a:buChar char="⮚"/>
            </a:pPr>
            <a:r>
              <a:rPr lang="en-US" sz="2000" b="1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 Faced in Internship</a:t>
            </a:r>
            <a:endParaRPr sz="2000" dirty="0">
              <a:latin typeface="Cambria"/>
              <a:ea typeface="Cambria"/>
              <a:cs typeface="Cambria"/>
              <a:sym typeface="Cambria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Noto Sans Symbols"/>
              <a:buChar char="⮚"/>
            </a:pPr>
            <a:r>
              <a:rPr lang="en-US" sz="2000" b="1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 of the work</a:t>
            </a:r>
            <a:endParaRPr dirty="0"/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Noto Sans Symbols"/>
              <a:buChar char="⮚"/>
            </a:pPr>
            <a:r>
              <a:rPr lang="en-US" sz="2000" b="1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Internship Roadmap</a:t>
            </a:r>
            <a:endParaRPr dirty="0"/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Noto Sans Symbols"/>
              <a:buChar char="⮚"/>
            </a:pPr>
            <a:r>
              <a:rPr lang="en-US" sz="2000" b="1" dirty="0" err="1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2000" b="1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Link</a:t>
            </a:r>
            <a:endParaRPr sz="2000" dirty="0">
              <a:latin typeface="Cambria"/>
              <a:ea typeface="Cambria"/>
              <a:cs typeface="Cambria"/>
              <a:sym typeface="Cambria"/>
            </a:endParaRPr>
          </a:p>
          <a:p>
            <a:pPr marL="4953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000" dirty="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00"/>
              <a:buFont typeface="Times New Roman"/>
              <a:buNone/>
            </a:pP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About Company or Organization</a:t>
            </a:r>
            <a:endParaRPr sz="3200" b="1" dirty="0">
              <a:solidFill>
                <a:schemeClr val="accent1">
                  <a:lumMod val="75000"/>
                </a:schemeClr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3"/>
          <p:cNvSpPr txBox="1">
            <a:spLocks noGrp="1"/>
          </p:cNvSpPr>
          <p:nvPr>
            <p:ph type="body" idx="1"/>
          </p:nvPr>
        </p:nvSpPr>
        <p:spPr>
          <a:xfrm>
            <a:off x="838200" y="1045031"/>
            <a:ext cx="10515600" cy="4193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TAP Academy is a Bengaluru-based Ed-Tech and skill-development organization focused on training individuals in in-demand software and technology skills with the goal of making them job-ready for the IT industry. It was founded in 2021 and has since trained tens of thousands of students through both online and offline programs.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marL="457200" lvl="0" indent="-349250" algn="l" rtl="0">
              <a:spcBef>
                <a:spcPts val="1000"/>
              </a:spcBef>
              <a:spcAft>
                <a:spcPts val="0"/>
              </a:spcAft>
              <a:buSzPts val="1900"/>
              <a:buFont typeface="Arial"/>
              <a:buChar char="●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TAP Academy aims to bridge the gap between academic education and industry requirements by offering practical, project-oriented learning.</a:t>
            </a:r>
            <a:br>
              <a:rPr lang="en-US" sz="1900">
                <a:latin typeface="Arial"/>
                <a:ea typeface="Arial"/>
                <a:cs typeface="Arial"/>
                <a:sym typeface="Arial"/>
              </a:rPr>
            </a:b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●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Their ethos is “Gamify Learning, Simplify Employment” — using modern teaching approaches like augmented reality (AR) visuals, animations, project-based training, and interactive sessions to improve comprehension.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 domain or the technology</a:t>
            </a:r>
            <a:endParaRPr sz="3200" b="1">
              <a:solidFill>
                <a:srgbClr val="2F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4"/>
          <p:cNvSpPr txBox="1">
            <a:spLocks noGrp="1"/>
          </p:cNvSpPr>
          <p:nvPr>
            <p:ph type="body" idx="1"/>
          </p:nvPr>
        </p:nvSpPr>
        <p:spPr>
          <a:xfrm>
            <a:off x="838200" y="1184375"/>
            <a:ext cx="4980900" cy="40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1600" b="1">
                <a:latin typeface="Arial"/>
                <a:ea typeface="Arial"/>
                <a:cs typeface="Arial"/>
                <a:sym typeface="Arial"/>
              </a:rPr>
              <a:t>Working Domain</a:t>
            </a:r>
            <a:endParaRPr sz="16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Full Stack Software Development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Web Application Development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Enterprise Application Development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latin typeface="Arial"/>
                <a:ea typeface="Arial"/>
                <a:cs typeface="Arial"/>
                <a:sym typeface="Arial"/>
              </a:rPr>
              <a:t>AI-Assisted / Agentic Software Development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Backend &amp; Frontend System Integration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Automation-Driven Coding Workflows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latin typeface="Arial"/>
                <a:ea typeface="Arial"/>
                <a:cs typeface="Arial"/>
                <a:sym typeface="Arial"/>
              </a:rPr>
              <a:t>Technologies &amp; Tools</a:t>
            </a:r>
            <a:endParaRPr sz="16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❏"/>
            </a:pP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Backend Technologies</a:t>
            </a:r>
            <a:endParaRPr sz="14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Java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Spring Core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❏"/>
            </a:pP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Frontend Technologies</a:t>
            </a:r>
            <a:endParaRPr sz="14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2375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9"/>
              <a:buFont typeface="Arial"/>
              <a:buChar char="●"/>
            </a:pPr>
            <a:r>
              <a:rPr lang="en-US" sz="1498">
                <a:latin typeface="Arial"/>
                <a:ea typeface="Arial"/>
                <a:cs typeface="Arial"/>
                <a:sym typeface="Arial"/>
              </a:rPr>
              <a:t>HTML5</a:t>
            </a:r>
            <a:endParaRPr sz="1498">
              <a:latin typeface="Arial"/>
              <a:ea typeface="Arial"/>
              <a:cs typeface="Arial"/>
              <a:sym typeface="Arial"/>
            </a:endParaRPr>
          </a:p>
          <a:p>
            <a:pPr marL="457200" lvl="0" indent="-32375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9"/>
              <a:buFont typeface="Arial"/>
              <a:buChar char="●"/>
            </a:pPr>
            <a:r>
              <a:rPr lang="en-US" sz="1498">
                <a:latin typeface="Arial"/>
                <a:ea typeface="Arial"/>
                <a:cs typeface="Arial"/>
                <a:sym typeface="Arial"/>
              </a:rPr>
              <a:t>CSS3</a:t>
            </a:r>
            <a:endParaRPr sz="1498">
              <a:latin typeface="Arial"/>
              <a:ea typeface="Arial"/>
              <a:cs typeface="Arial"/>
              <a:sym typeface="Arial"/>
            </a:endParaRPr>
          </a:p>
          <a:p>
            <a:pPr marL="457200" lvl="0" indent="-32375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9"/>
              <a:buFont typeface="Arial"/>
              <a:buChar char="●"/>
            </a:pPr>
            <a:r>
              <a:rPr lang="en-US" sz="1498">
                <a:latin typeface="Arial"/>
                <a:ea typeface="Arial"/>
                <a:cs typeface="Arial"/>
                <a:sym typeface="Arial"/>
              </a:rPr>
              <a:t>JavaScript</a:t>
            </a:r>
            <a:endParaRPr sz="1498">
              <a:latin typeface="Arial"/>
              <a:ea typeface="Arial"/>
              <a:cs typeface="Arial"/>
              <a:sym typeface="Arial"/>
            </a:endParaRPr>
          </a:p>
          <a:p>
            <a:pPr marL="457200" lvl="0" indent="-32375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9"/>
              <a:buFont typeface="Arial"/>
              <a:buChar char="●"/>
            </a:pPr>
            <a:r>
              <a:rPr lang="en-US" sz="1498">
                <a:latin typeface="Arial"/>
                <a:ea typeface="Arial"/>
                <a:cs typeface="Arial"/>
                <a:sym typeface="Arial"/>
              </a:rPr>
              <a:t>React.js</a:t>
            </a:r>
            <a:endParaRPr sz="1498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12" name="Google Shape;112;p4"/>
          <p:cNvSpPr txBox="1"/>
          <p:nvPr/>
        </p:nvSpPr>
        <p:spPr>
          <a:xfrm>
            <a:off x="5819100" y="1184375"/>
            <a:ext cx="6098100" cy="40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❏"/>
            </a:pPr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Database Technologies</a:t>
            </a:r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MySQL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About your team and reporting Manager</a:t>
            </a:r>
            <a:endParaRPr sz="3200" b="1">
              <a:solidFill>
                <a:srgbClr val="2F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5"/>
          <p:cNvSpPr txBox="1">
            <a:spLocks noGrp="1"/>
          </p:cNvSpPr>
          <p:nvPr>
            <p:ph type="body" idx="1"/>
          </p:nvPr>
        </p:nvSpPr>
        <p:spPr>
          <a:xfrm>
            <a:off x="838200" y="1184367"/>
            <a:ext cx="10515600" cy="4058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323850" algn="l" rtl="0">
              <a:spcBef>
                <a:spcPts val="0"/>
              </a:spcBef>
              <a:spcAft>
                <a:spcPts val="0"/>
              </a:spcAft>
              <a:buSzPts val="3300"/>
              <a:buChar char="•"/>
            </a:pP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The internship follows a classroom-based training model with around 200 students.</a:t>
            </a:r>
            <a:br>
              <a:rPr lang="en-US" sz="1600" dirty="0">
                <a:latin typeface="Arial"/>
                <a:ea typeface="Arial"/>
                <a:cs typeface="Arial"/>
                <a:sym typeface="Arial"/>
              </a:rPr>
            </a:br>
            <a:endParaRPr sz="1600" dirty="0">
              <a:latin typeface="Arial"/>
              <a:ea typeface="Arial"/>
              <a:cs typeface="Arial"/>
              <a:sym typeface="Arial"/>
            </a:endParaRPr>
          </a:p>
          <a:p>
            <a:pPr marL="228600" lvl="0" indent="-323850" algn="l" rtl="0">
              <a:spcBef>
                <a:spcPts val="0"/>
              </a:spcBef>
              <a:spcAft>
                <a:spcPts val="0"/>
              </a:spcAft>
              <a:buSzPts val="3300"/>
              <a:buChar char="•"/>
            </a:pP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There is no dedicated project team or project manager.</a:t>
            </a:r>
            <a:br>
              <a:rPr lang="en-US" sz="1600" dirty="0">
                <a:latin typeface="Arial"/>
                <a:ea typeface="Arial"/>
                <a:cs typeface="Arial"/>
                <a:sym typeface="Arial"/>
              </a:rPr>
            </a:br>
            <a:endParaRPr sz="1600" dirty="0">
              <a:latin typeface="Arial"/>
              <a:ea typeface="Arial"/>
              <a:cs typeface="Arial"/>
              <a:sym typeface="Arial"/>
            </a:endParaRPr>
          </a:p>
          <a:p>
            <a:pPr marL="228600" lvl="0" indent="-323850" algn="l" rtl="0">
              <a:spcBef>
                <a:spcPts val="0"/>
              </a:spcBef>
              <a:spcAft>
                <a:spcPts val="0"/>
              </a:spcAft>
              <a:buSzPts val="3300"/>
              <a:buChar char="•"/>
            </a:pP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Mr. Sharath, Mr. Kshitij and Mr. Ravi 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Magdum the instructors, act </a:t>
            </a: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as the mentor and reporting authority throughout the internship.</a:t>
            </a:r>
            <a:endParaRPr sz="33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 Faced in Internship</a:t>
            </a:r>
            <a:endParaRPr sz="3200" b="1">
              <a:solidFill>
                <a:srgbClr val="2F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6"/>
          <p:cNvSpPr txBox="1">
            <a:spLocks noGrp="1"/>
          </p:cNvSpPr>
          <p:nvPr>
            <p:ph type="body" idx="1"/>
          </p:nvPr>
        </p:nvSpPr>
        <p:spPr>
          <a:xfrm>
            <a:off x="838200" y="1184376"/>
            <a:ext cx="10515600" cy="44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311150" algn="l" rtl="0">
              <a:spcBef>
                <a:spcPts val="0"/>
              </a:spcBef>
              <a:spcAft>
                <a:spcPts val="0"/>
              </a:spcAft>
              <a:buSzPts val="3100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Finding a suitable internship aligned with Java Full Stack Development and industry requirements.</a:t>
            </a:r>
            <a:br>
              <a:rPr lang="en-US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228600" lvl="0" indent="-311150" algn="l" rtl="0">
              <a:spcBef>
                <a:spcPts val="0"/>
              </a:spcBef>
              <a:spcAft>
                <a:spcPts val="0"/>
              </a:spcAft>
              <a:buSzPts val="3100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Adapting to an intensive learning schedule covering multiple technologies in a short time.</a:t>
            </a:r>
            <a:br>
              <a:rPr lang="en-US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228600" lvl="0" indent="-311150" algn="l" rtl="0">
              <a:spcBef>
                <a:spcPts val="0"/>
              </a:spcBef>
              <a:spcAft>
                <a:spcPts val="0"/>
              </a:spcAft>
              <a:buSzPts val="3100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Understanding advanced backend concepts such as Spring Boot, REST APIs, and database integration.</a:t>
            </a:r>
            <a:br>
              <a:rPr lang="en-US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228600" lvl="0" indent="-311150" algn="l" rtl="0">
              <a:spcBef>
                <a:spcPts val="0"/>
              </a:spcBef>
              <a:spcAft>
                <a:spcPts val="0"/>
              </a:spcAft>
              <a:buSzPts val="3100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Managing both frontend and backend learning simultaneously as part of full stack development.</a:t>
            </a:r>
            <a:br>
              <a:rPr lang="en-US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228600" lvl="0" indent="-311150" algn="l" rtl="0">
              <a:spcBef>
                <a:spcPts val="0"/>
              </a:spcBef>
              <a:spcAft>
                <a:spcPts val="0"/>
              </a:spcAft>
              <a:buSzPts val="3100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Grasping new concepts related to Agentic Coding and AI-assisted development.</a:t>
            </a:r>
            <a:br>
              <a:rPr lang="en-US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228600" lvl="0" indent="-311150" algn="l" rtl="0">
              <a:spcBef>
                <a:spcPts val="0"/>
              </a:spcBef>
              <a:spcAft>
                <a:spcPts val="0"/>
              </a:spcAft>
              <a:buSzPts val="3100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Keeping pace with the class due to the large batch size.</a:t>
            </a:r>
            <a:br>
              <a:rPr lang="en-US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228600" lvl="0" indent="-311150" algn="l" rtl="0">
              <a:spcBef>
                <a:spcPts val="0"/>
              </a:spcBef>
              <a:spcAft>
                <a:spcPts val="0"/>
              </a:spcAft>
              <a:buSzPts val="3100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Applying theoretical knowledge into practical coding exercises and assignments.</a:t>
            </a:r>
            <a:endParaRPr sz="3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 of the work</a:t>
            </a:r>
            <a:endParaRPr sz="3200" b="1">
              <a:solidFill>
                <a:srgbClr val="2F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7"/>
          <p:cNvSpPr txBox="1">
            <a:spLocks noGrp="1"/>
          </p:cNvSpPr>
          <p:nvPr>
            <p:ph type="body" idx="1"/>
          </p:nvPr>
        </p:nvSpPr>
        <p:spPr>
          <a:xfrm>
            <a:off x="838200" y="1184367"/>
            <a:ext cx="10515600" cy="4058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To gain practical knowledge of Java Full Stack Development using industry-standard frameworks and tools.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To design and develop end-to-end web applications covering frontend, backend, and database layers.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To build responsive and interactive frontend interfaces using modern web technologies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To apply object-oriented programming principles and best coding practices in real-world applications.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To learn database design, integration, and optimization using MySQL.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To enhance industry readiness through real-time projects and development workflows.</a:t>
            </a:r>
            <a:endParaRPr sz="3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Internship Road Map</a:t>
            </a:r>
            <a:endParaRPr sz="3200" b="1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grpSp>
        <p:nvGrpSpPr>
          <p:cNvPr id="140" name="Google Shape;140;p8"/>
          <p:cNvGrpSpPr/>
          <p:nvPr/>
        </p:nvGrpSpPr>
        <p:grpSpPr>
          <a:xfrm>
            <a:off x="769549" y="1009950"/>
            <a:ext cx="10628398" cy="4780554"/>
            <a:chOff x="2063594" y="0"/>
            <a:chExt cx="6388410" cy="4058195"/>
          </a:xfrm>
        </p:grpSpPr>
        <p:sp>
          <p:nvSpPr>
            <p:cNvPr id="141" name="Google Shape;141;p8"/>
            <p:cNvSpPr/>
            <p:nvPr/>
          </p:nvSpPr>
          <p:spPr>
            <a:xfrm>
              <a:off x="7173684" y="811639"/>
              <a:ext cx="1278320" cy="3246556"/>
            </a:xfrm>
            <a:prstGeom prst="wedgeRectCallout">
              <a:avLst>
                <a:gd name="adj1" fmla="val 0"/>
                <a:gd name="adj2" fmla="val 0"/>
              </a:avLst>
            </a:prstGeom>
            <a:solidFill>
              <a:srgbClr val="BFC8E3"/>
            </a:solidFill>
            <a:ln w="154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10875" tIns="110875" rIns="110875" bIns="1108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8"/>
            <p:cNvSpPr/>
            <p:nvPr/>
          </p:nvSpPr>
          <p:spPr>
            <a:xfrm>
              <a:off x="7173684" y="0"/>
              <a:ext cx="1278320" cy="811639"/>
            </a:xfrm>
            <a:prstGeom prst="rect">
              <a:avLst/>
            </a:prstGeom>
            <a:solidFill>
              <a:schemeClr val="accent2"/>
            </a:solidFill>
            <a:ln w="154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10875" tIns="110875" rIns="110875" bIns="1108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8"/>
            <p:cNvSpPr txBox="1"/>
            <p:nvPr/>
          </p:nvSpPr>
          <p:spPr>
            <a:xfrm>
              <a:off x="7173684" y="0"/>
              <a:ext cx="1278320" cy="8116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7000" tIns="77000" rIns="77000" bIns="770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25" b="0" i="0" u="none" strike="noStrike" cap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Final Review</a:t>
              </a:r>
              <a:endParaRPr sz="2425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4" name="Google Shape;144;p8"/>
            <p:cNvSpPr/>
            <p:nvPr/>
          </p:nvSpPr>
          <p:spPr>
            <a:xfrm>
              <a:off x="5898571" y="811625"/>
              <a:ext cx="1278300" cy="3000900"/>
            </a:xfrm>
            <a:prstGeom prst="wedgeRectCallout">
              <a:avLst>
                <a:gd name="adj1" fmla="val 62500"/>
                <a:gd name="adj2" fmla="val 20830"/>
              </a:avLst>
            </a:prstGeom>
            <a:solidFill>
              <a:srgbClr val="C6EAE6"/>
            </a:solidFill>
            <a:ln w="154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10875" tIns="110875" rIns="110875" bIns="1108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050"/>
            </a:p>
          </p:txBody>
        </p:sp>
        <p:sp>
          <p:nvSpPr>
            <p:cNvPr id="145" name="Google Shape;145;p8"/>
            <p:cNvSpPr/>
            <p:nvPr/>
          </p:nvSpPr>
          <p:spPr>
            <a:xfrm>
              <a:off x="5898557" y="101454"/>
              <a:ext cx="1278320" cy="710184"/>
            </a:xfrm>
            <a:prstGeom prst="rect">
              <a:avLst/>
            </a:prstGeom>
            <a:solidFill>
              <a:schemeClr val="accent3"/>
            </a:solidFill>
            <a:ln w="154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10875" tIns="110875" rIns="110875" bIns="1108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8"/>
            <p:cNvSpPr txBox="1"/>
            <p:nvPr/>
          </p:nvSpPr>
          <p:spPr>
            <a:xfrm>
              <a:off x="5959656" y="101454"/>
              <a:ext cx="1278300" cy="71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7000" tIns="77000" rIns="77000" bIns="770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25" b="0" i="0" u="none" strike="noStrike" cap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Review 4</a:t>
              </a:r>
              <a:endParaRPr sz="2425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7" name="Google Shape;147;p8"/>
            <p:cNvSpPr/>
            <p:nvPr/>
          </p:nvSpPr>
          <p:spPr>
            <a:xfrm>
              <a:off x="4620236" y="811639"/>
              <a:ext cx="1278320" cy="2840736"/>
            </a:xfrm>
            <a:prstGeom prst="wedgeRectCallout">
              <a:avLst>
                <a:gd name="adj1" fmla="val 62500"/>
                <a:gd name="adj2" fmla="val 20830"/>
              </a:avLst>
            </a:prstGeom>
            <a:solidFill>
              <a:srgbClr val="CFF1CF"/>
            </a:solidFill>
            <a:ln w="154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10875" tIns="110875" rIns="110875" bIns="1108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8"/>
            <p:cNvSpPr txBox="1"/>
            <p:nvPr/>
          </p:nvSpPr>
          <p:spPr>
            <a:xfrm>
              <a:off x="4643957" y="811630"/>
              <a:ext cx="1254600" cy="284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7000" tIns="77000" rIns="77000" bIns="77000" anchor="t" anchorCtr="0">
              <a:noAutofit/>
            </a:bodyPr>
            <a:lstStyle/>
            <a:p>
              <a:pPr marL="285750" lvl="0" indent="-180975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Times New Roman"/>
                <a:buChar char="●"/>
              </a:pPr>
              <a:r>
                <a:rPr lang="en-US" sz="105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Full Stack application development</a:t>
              </a:r>
              <a:br>
                <a:rPr lang="en-US" sz="105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</a:br>
              <a:endParaRPr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285750" lvl="0" indent="-180975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Times New Roman"/>
                <a:buChar char="●"/>
              </a:pPr>
              <a:r>
                <a:rPr lang="en-US" sz="105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Frontend–backend integration</a:t>
              </a:r>
              <a:br>
                <a:rPr lang="en-US" sz="105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</a:br>
              <a:endParaRPr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285750" lvl="0" indent="-180975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Times New Roman"/>
                <a:buChar char="●"/>
              </a:pPr>
              <a:r>
                <a:rPr lang="en-US" sz="105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CRUD operations</a:t>
              </a:r>
              <a:br>
                <a:rPr lang="en-US" sz="105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</a:br>
              <a:endParaRPr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285750" lvl="0" indent="-180975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Times New Roman"/>
                <a:buChar char="●"/>
              </a:pPr>
              <a:r>
                <a:rPr lang="en-US" sz="105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Authentication and authorization basics</a:t>
              </a:r>
              <a:br>
                <a:rPr lang="en-US" sz="105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</a:br>
              <a:endParaRPr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285750" lvl="0" indent="-180975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Times New Roman"/>
                <a:buChar char="●"/>
              </a:pPr>
              <a:r>
                <a:rPr lang="en-US" sz="105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Agentic Coding for debugging and code optimization</a:t>
              </a:r>
              <a:endParaRPr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9" name="Google Shape;149;p8"/>
            <p:cNvSpPr/>
            <p:nvPr/>
          </p:nvSpPr>
          <p:spPr>
            <a:xfrm>
              <a:off x="4620236" y="206156"/>
              <a:ext cx="1278320" cy="608729"/>
            </a:xfrm>
            <a:prstGeom prst="rect">
              <a:avLst/>
            </a:prstGeom>
            <a:solidFill>
              <a:schemeClr val="accent4"/>
            </a:solidFill>
            <a:ln w="154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10875" tIns="110875" rIns="110875" bIns="1108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8"/>
            <p:cNvSpPr txBox="1"/>
            <p:nvPr/>
          </p:nvSpPr>
          <p:spPr>
            <a:xfrm>
              <a:off x="4620236" y="206156"/>
              <a:ext cx="1278320" cy="6087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7000" tIns="77000" rIns="77000" bIns="770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25" b="0" i="0" u="none" strike="noStrike" cap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Review 3</a:t>
              </a:r>
              <a:endParaRPr sz="2425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1" name="Google Shape;151;p8"/>
            <p:cNvSpPr/>
            <p:nvPr/>
          </p:nvSpPr>
          <p:spPr>
            <a:xfrm>
              <a:off x="3341915" y="811639"/>
              <a:ext cx="1278320" cy="2637826"/>
            </a:xfrm>
            <a:prstGeom prst="wedgeRectCallout">
              <a:avLst>
                <a:gd name="adj1" fmla="val 62500"/>
                <a:gd name="adj2" fmla="val 20830"/>
              </a:avLst>
            </a:prstGeom>
            <a:solidFill>
              <a:srgbClr val="F4F6D9"/>
            </a:solidFill>
            <a:ln w="154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10875" tIns="110875" rIns="110875" bIns="1108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8"/>
            <p:cNvSpPr txBox="1"/>
            <p:nvPr/>
          </p:nvSpPr>
          <p:spPr>
            <a:xfrm>
              <a:off x="3365676" y="811630"/>
              <a:ext cx="1254600" cy="263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7000" tIns="77000" rIns="77000" bIns="77000" anchor="t" anchorCtr="0">
              <a:noAutofit/>
            </a:bodyPr>
            <a:lstStyle/>
            <a:p>
              <a:pPr marL="342900" lvl="0" indent="-238125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Times New Roman"/>
                <a:buChar char="●"/>
              </a:pPr>
              <a:r>
                <a:rPr lang="en-US" sz="105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Advanced Java concepts</a:t>
              </a:r>
              <a:br>
                <a:rPr lang="en-US" sz="105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</a:br>
              <a:endParaRPr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342900" lvl="0" indent="-238125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Times New Roman"/>
                <a:buChar char="●"/>
              </a:pPr>
              <a:r>
                <a:rPr lang="en-US" sz="105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Spring Core and Spring Boot fundamentals</a:t>
              </a:r>
              <a:br>
                <a:rPr lang="en-US" sz="105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</a:br>
              <a:endParaRPr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342900" lvl="0" indent="-238125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Times New Roman"/>
                <a:buChar char="●"/>
              </a:pPr>
              <a:r>
                <a:rPr lang="en-US" sz="105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REST API development</a:t>
              </a:r>
              <a:br>
                <a:rPr lang="en-US" sz="105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</a:br>
              <a:endParaRPr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342900" lvl="0" indent="-238125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Times New Roman"/>
                <a:buChar char="●"/>
              </a:pPr>
              <a:r>
                <a:rPr lang="en-US" sz="105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Database concepts and MySQL integration</a:t>
              </a:r>
              <a:br>
                <a:rPr lang="en-US" sz="105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</a:br>
              <a:endParaRPr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342900" lvl="0" indent="-238125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Times New Roman"/>
                <a:buChar char="●"/>
              </a:pPr>
              <a:r>
                <a:rPr lang="en-US" sz="105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Basic AI-assisted coding practices</a:t>
              </a:r>
              <a:endParaRPr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3" name="Google Shape;153;p8"/>
            <p:cNvSpPr/>
            <p:nvPr/>
          </p:nvSpPr>
          <p:spPr>
            <a:xfrm>
              <a:off x="3341915" y="304364"/>
              <a:ext cx="1278320" cy="507274"/>
            </a:xfrm>
            <a:prstGeom prst="rect">
              <a:avLst/>
            </a:prstGeom>
            <a:solidFill>
              <a:srgbClr val="599BD5"/>
            </a:solidFill>
            <a:ln w="154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10875" tIns="110875" rIns="110875" bIns="1108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8"/>
            <p:cNvSpPr txBox="1"/>
            <p:nvPr/>
          </p:nvSpPr>
          <p:spPr>
            <a:xfrm>
              <a:off x="3341915" y="304364"/>
              <a:ext cx="1278320" cy="5072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7000" tIns="77000" rIns="77000" bIns="770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25" b="0" i="0" u="none" strike="noStrike" cap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Review 2</a:t>
              </a:r>
              <a:endParaRPr sz="2425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5" name="Google Shape;155;p8"/>
            <p:cNvSpPr/>
            <p:nvPr/>
          </p:nvSpPr>
          <p:spPr>
            <a:xfrm>
              <a:off x="2063594" y="811639"/>
              <a:ext cx="1278320" cy="2434917"/>
            </a:xfrm>
            <a:prstGeom prst="wedgeRectCallout">
              <a:avLst>
                <a:gd name="adj1" fmla="val 62500"/>
                <a:gd name="adj2" fmla="val 20830"/>
              </a:avLst>
            </a:prstGeom>
            <a:solidFill>
              <a:srgbClr val="FAEAE5"/>
            </a:solidFill>
            <a:ln w="154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10875" tIns="110875" rIns="110875" bIns="1108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8"/>
            <p:cNvSpPr txBox="1"/>
            <p:nvPr/>
          </p:nvSpPr>
          <p:spPr>
            <a:xfrm>
              <a:off x="2104858" y="811630"/>
              <a:ext cx="1213200" cy="243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7000" tIns="77000" rIns="77000" bIns="77000" anchor="t" anchorCtr="0">
              <a:noAutofit/>
            </a:bodyPr>
            <a:lstStyle/>
            <a:p>
              <a:pPr marL="228600" lvl="0" indent="-183607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91"/>
                <a:buFont typeface="Times New Roman"/>
                <a:buChar char="●"/>
              </a:pPr>
              <a:r>
                <a:rPr lang="en-US" sz="109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Introduction to Java and Full Stack concepts</a:t>
              </a:r>
              <a:br>
                <a:rPr lang="en-US" sz="109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</a:br>
              <a:endParaRPr sz="109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228600" lvl="0" indent="-183607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91"/>
                <a:buFont typeface="Times New Roman"/>
                <a:buChar char="●"/>
              </a:pPr>
              <a:r>
                <a:rPr lang="en-US" sz="109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Core Java fundamentals (OOPs, Collections, Exception Handling)</a:t>
              </a:r>
              <a:br>
                <a:rPr lang="en-US" sz="109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</a:br>
              <a:endParaRPr sz="109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228600" lvl="0" indent="-183607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91"/>
                <a:buFont typeface="Times New Roman"/>
                <a:buChar char="●"/>
              </a:pPr>
              <a:r>
                <a:rPr lang="en-US" sz="109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Basics of HTML, CSS, and JavaScript</a:t>
              </a:r>
              <a:br>
                <a:rPr lang="en-US" sz="109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</a:br>
              <a:endParaRPr sz="109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228600" lvl="0" indent="-183607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91"/>
                <a:buFont typeface="Times New Roman"/>
                <a:buChar char="●"/>
              </a:pPr>
              <a:r>
                <a:rPr lang="en-US" sz="109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Development environment setup</a:t>
              </a:r>
              <a:br>
                <a:rPr lang="en-US" sz="109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</a:br>
              <a:endParaRPr sz="109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228600" lvl="0" indent="-183607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91"/>
                <a:buFont typeface="Times New Roman"/>
                <a:buChar char="●"/>
              </a:pPr>
              <a:r>
                <a:rPr lang="en-US" sz="109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Introduction to Agentic Coding concepts</a:t>
              </a:r>
              <a:endParaRPr sz="109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7" name="Google Shape;157;p8"/>
            <p:cNvSpPr/>
            <p:nvPr/>
          </p:nvSpPr>
          <p:spPr>
            <a:xfrm>
              <a:off x="2063594" y="405819"/>
              <a:ext cx="1278320" cy="405819"/>
            </a:xfrm>
            <a:prstGeom prst="rect">
              <a:avLst/>
            </a:prstGeom>
            <a:solidFill>
              <a:schemeClr val="accent6"/>
            </a:solidFill>
            <a:ln w="154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10875" tIns="110875" rIns="110875" bIns="1108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8"/>
            <p:cNvSpPr txBox="1"/>
            <p:nvPr/>
          </p:nvSpPr>
          <p:spPr>
            <a:xfrm>
              <a:off x="2063594" y="405819"/>
              <a:ext cx="1278320" cy="4058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7000" tIns="77000" rIns="77000" bIns="770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25" b="0" i="0" u="none" strike="noStrike" cap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Review 1</a:t>
              </a:r>
              <a:endParaRPr sz="2425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59" name="Google Shape;159;p8"/>
          <p:cNvSpPr txBox="1"/>
          <p:nvPr/>
        </p:nvSpPr>
        <p:spPr>
          <a:xfrm>
            <a:off x="7185125" y="1985774"/>
            <a:ext cx="2087400" cy="34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000" tIns="77000" rIns="77000" bIns="77000" anchor="t" anchorCtr="0">
            <a:noAutofit/>
          </a:bodyPr>
          <a:lstStyle/>
          <a:p>
            <a:pPr marL="228600" lvl="0" indent="-23812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imes New Roman"/>
              <a:buChar char="●"/>
            </a:pPr>
            <a:r>
              <a:rPr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Advanced Spring Boot features</a:t>
            </a:r>
            <a:br>
              <a:rPr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3812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imes New Roman"/>
              <a:buChar char="●"/>
            </a:pPr>
            <a:r>
              <a:rPr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 full stack application</a:t>
            </a:r>
            <a:br>
              <a:rPr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3812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imes New Roman"/>
              <a:buChar char="●"/>
            </a:pPr>
            <a:r>
              <a:rPr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testing and validation</a:t>
            </a:r>
            <a:br>
              <a:rPr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3812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imes New Roman"/>
              <a:buChar char="●"/>
            </a:pPr>
            <a:r>
              <a:rPr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refactoring using AI agents</a:t>
            </a:r>
            <a:br>
              <a:rPr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3812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imes New Roman"/>
              <a:buChar char="●"/>
            </a:pPr>
            <a:r>
              <a:rPr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Deployment basics</a:t>
            </a:r>
            <a:endParaRPr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8"/>
          <p:cNvSpPr txBox="1"/>
          <p:nvPr/>
        </p:nvSpPr>
        <p:spPr>
          <a:xfrm>
            <a:off x="9272525" y="1985775"/>
            <a:ext cx="2087400" cy="3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000" tIns="77000" rIns="77000" bIns="77000" anchor="t" anchorCtr="0">
            <a:noAutofit/>
          </a:bodyPr>
          <a:lstStyle/>
          <a:p>
            <a:pPr marL="171450" lvl="0" indent="-12382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imes New Roman"/>
              <a:buChar char="●"/>
            </a:pPr>
            <a:r>
              <a:rPr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Completion of internship curriculum</a:t>
            </a:r>
            <a:br>
              <a:rPr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lvl="0" indent="-12382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imes New Roman"/>
              <a:buChar char="●"/>
            </a:pPr>
            <a:r>
              <a:rPr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assessment and evaluation</a:t>
            </a:r>
            <a:br>
              <a:rPr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lvl="0" indent="-12382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imes New Roman"/>
              <a:buChar char="●"/>
            </a:pPr>
            <a:r>
              <a:rPr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Practical understanding of Java Full Stack Development</a:t>
            </a:r>
            <a:br>
              <a:rPr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lvl="0" indent="-12382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imes New Roman"/>
              <a:buChar char="●"/>
            </a:pPr>
            <a:r>
              <a:rPr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Effective use of Agentic Coding techniques</a:t>
            </a:r>
            <a:br>
              <a:rPr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lvl="0" indent="-12382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imes New Roman"/>
              <a:buChar char="●"/>
            </a:pPr>
            <a:r>
              <a:rPr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Overall performance review and certification</a:t>
            </a:r>
            <a:endParaRPr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 Link</a:t>
            </a:r>
            <a:endParaRPr sz="3200" b="1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67" name="Google Shape;167;p9"/>
          <p:cNvSpPr txBox="1">
            <a:spLocks noGrp="1"/>
          </p:cNvSpPr>
          <p:nvPr>
            <p:ph type="body" idx="1"/>
          </p:nvPr>
        </p:nvSpPr>
        <p:spPr>
          <a:xfrm>
            <a:off x="446308" y="106129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>
              <a:spcBef>
                <a:spcPts val="0"/>
              </a:spcBef>
              <a:buSzPts val="2800"/>
              <a:buNone/>
            </a:pPr>
            <a:r>
              <a:rPr lang="en-US" dirty="0"/>
              <a:t>https://github.com/someshm17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endParaRPr sz="66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6600">
                <a:solidFill>
                  <a:srgbClr val="F7CA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Q&amp;A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endParaRPr sz="6600">
              <a:solidFill>
                <a:srgbClr val="A7118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4" name="Google Shape;174;p10" descr="bd04924_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"/>
          <p:cNvSpPr txBox="1">
            <a:spLocks noGrp="1"/>
          </p:cNvSpPr>
          <p:nvPr>
            <p:ph type="body" idx="1"/>
          </p:nvPr>
        </p:nvSpPr>
        <p:spPr>
          <a:xfrm>
            <a:off x="838200" y="2547258"/>
            <a:ext cx="10515600" cy="1214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71180"/>
              </a:buClr>
              <a:buSzPts val="6600"/>
              <a:buNone/>
            </a:pPr>
            <a:r>
              <a:rPr lang="en-US" sz="6600" dirty="0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 !!</a:t>
            </a:r>
            <a:endParaRPr sz="6600" dirty="0">
              <a:solidFill>
                <a:schemeClr val="accent1">
                  <a:lumMod val="75000"/>
                </a:schemeClr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699</Words>
  <Application>Microsoft Office PowerPoint</Application>
  <PresentationFormat>Widescreen</PresentationFormat>
  <Paragraphs>116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Cambria</vt:lpstr>
      <vt:lpstr>Noto Sans Symbols</vt:lpstr>
      <vt:lpstr>Times New Roman</vt:lpstr>
      <vt:lpstr>Verdana</vt:lpstr>
      <vt:lpstr>Office Theme</vt:lpstr>
      <vt:lpstr>PowerPoint Presentation</vt:lpstr>
      <vt:lpstr>Content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Internship Road Map</vt:lpstr>
      <vt:lpstr>Github Link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Gopalakrishnan N-Asst. Prof-CIV</dc:creator>
  <cp:lastModifiedBy>Somesh M_</cp:lastModifiedBy>
  <cp:revision>14</cp:revision>
  <dcterms:created xsi:type="dcterms:W3CDTF">2022-10-14T07:18:17Z</dcterms:created>
  <dcterms:modified xsi:type="dcterms:W3CDTF">2026-04-02T06:39:45Z</dcterms:modified>
</cp:coreProperties>
</file>